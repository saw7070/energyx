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This deck is a new management draft, not the original generic 12-week plan.
Current baseline: integration main@7070843 and GitHub Issues checked 17 Aug 2026.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GitHub #58-60 closed; #53, #55-57 and #61-66 remain open or in human acceptance.
AMBER is a draft management assessment, not an automated production metric.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Business value framing derives from the accepted EnergyIQ product context: Overview, Explorer, AI Analyst and Admin.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Shared mechanisms: identity, persistence, restore, access, run trace and governance.
Project-specific mechanisms: Renderer, Packs, metrics and decision questions.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Engineering verified: closed issues and current main evidence.
Acceptance pending: requires named-user browser/content review, not only automated tests.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L0-L3 map to current EnergyIQ truth layer and AI layers; L4 remains a controlled future frontier.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Preschool A/B issue #60 closed; Ngee adapter #55 and Ngee A/B #56 remain the next explicit gates.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Architecture terminology is drawn from the current EnergyIQ domain context and Overview AI decision record.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Preschool A/B engineering acceptance #60 is closed; Ngee A/B #56 remains planned after #55.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Commercial route is a hypothesis for validation, not an approved price list.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Management roadmap: technical completion, AI value optimisation, user feedback and pilot scale. Dates remain indicative.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Management Gantt intentionally groups technical tasks into business-readable phases. Dates remain indicative until owners and exit evidence are confirmed.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[Status basis]
This slide asks for prioritisation, ownership and commercial validation decisions.
[/Status basis]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ERGYIQ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ENERGYIQ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235440" y="228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7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 &amp; Delivery Roadmap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8C7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ENERGYIQ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产品战略与交付路线图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12140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E4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从可信能源数据，到可复跑的 AI 洞察与行业方法库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6016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B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管理层讨论稿 · 17 Aug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43800" y="114300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1325880"/>
            <a:ext cx="438912" cy="438912"/>
          </a:xfrm>
          <a:prstGeom prst="ellipse">
            <a:avLst/>
          </a:prstGeom>
          <a:solidFill>
            <a:srgbClr val="3C718B"/>
          </a:solidFill>
          <a:ln w="12700">
            <a:solidFill>
              <a:srgbClr val="3C71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1261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可信数据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1581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F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· 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64040" y="1984248"/>
            <a:ext cx="0" cy="256032"/>
          </a:xfrm>
          <a:prstGeom prst="line">
            <a:avLst/>
          </a:prstGeom>
          <a:noFill/>
          <a:ln w="15240">
            <a:solidFill>
              <a:srgbClr val="4D7B9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224028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0" y="2423160"/>
            <a:ext cx="438912" cy="438912"/>
          </a:xfrm>
          <a:prstGeom prst="ellipse">
            <a:avLst/>
          </a:prstGeom>
          <a:solidFill>
            <a:srgbClr val="3C718B"/>
          </a:solidFill>
          <a:ln w="12700">
            <a:solidFill>
              <a:srgbClr val="3C7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Overview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679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F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项目专属指标与图表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64040" y="3081528"/>
            <a:ext cx="0" cy="256032"/>
          </a:xfrm>
          <a:prstGeom prst="line">
            <a:avLst/>
          </a:prstGeom>
          <a:noFill/>
          <a:ln w="15240">
            <a:solidFill>
              <a:srgbClr val="4D7B9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333756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183E5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0" y="3520440"/>
            <a:ext cx="438912" cy="438912"/>
          </a:xfrm>
          <a:prstGeom prst="ellipse">
            <a:avLst/>
          </a:prstGeom>
          <a:solidFill>
            <a:srgbClr val="69D2A3"/>
          </a:solidFill>
          <a:ln w="12700">
            <a:solidFill>
              <a:srgbClr val="69D2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456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37764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F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Interpretation · Insights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64040" y="4178808"/>
            <a:ext cx="0" cy="256032"/>
          </a:xfrm>
          <a:prstGeom prst="line">
            <a:avLst/>
          </a:prstGeom>
          <a:noFill/>
          <a:ln w="15240">
            <a:solidFill>
              <a:srgbClr val="4D7B9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443484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0" y="4617720"/>
            <a:ext cx="438912" cy="438912"/>
          </a:xfrm>
          <a:prstGeom prst="ellipse">
            <a:avLst/>
          </a:prstGeom>
          <a:solidFill>
            <a:srgbClr val="3C718B"/>
          </a:solidFill>
          <a:ln w="12700">
            <a:solidFill>
              <a:srgbClr val="3C71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553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经验复用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8737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F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· SOP · Agent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工程底座已形成，下一道门是客户验收与跨项目复用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当前结论：AMBER。不是因为没有产品，而是因为“工程完成”仍需转化为客户可验证、可复跑、可扩展的价值。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20240" cy="3429000"/>
          </a:xfrm>
          <a:prstGeom prst="roundRect">
            <a:avLst>
              <a:gd name="adj" fmla="val 3810"/>
            </a:avLst>
          </a:prstGeom>
          <a:solidFill>
            <a:srgbClr val="FFF3D6"/>
          </a:solidFill>
          <a:ln w="10160">
            <a:solidFill>
              <a:srgbClr val="F0D79D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488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5C55E"/>
          </a:solidFill>
          <a:ln w="12700">
            <a:solidFill>
              <a:srgbClr val="F5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488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可信底座和核心能力已具备；客户验收、Ngee Ann 复用与 SOP 反馈闭环仍是 Release Gate。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B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状态基于 main@7070843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GitHub Issues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874520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E3F4F1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已经证明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57860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 Snapshot/Evidence、两个项目 Overview、AI Analyst、Preschool Layer 1–3 与 A→B 工程验收。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874520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E8F1F7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78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257860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Preschool 内容/视觉与多账户验收；Ngee Ann 服务端持久化 Layer 1–3；Admin AI Operations。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1874520"/>
            <a:ext cx="2743200" cy="1901952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接下来证明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578608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Ngee A→B、Insight usefulness 反馈、Method/SOP 沉淀，以及可商业化的 Pilot 交付。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4160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需要管理层确认的三件事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0" y="461772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优先完成 Ngee + A→B，再扩 Coding Agent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461772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确认 Product / Energy / QA / Ops owner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0" y="4617720"/>
            <a:ext cx="2606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953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用真实 Pilot 反馈验证商业包装与 SOP 价值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客户购买的不是图表，而是更快、更可信的能源决策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EnergyIQ 把“有数据但不会用”转化为“看懂、追问、决定、复用”。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4871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7627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Excel、API、Meter 与项目结构不统一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可信数据底座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81528" y="2880360"/>
            <a:ext cx="365760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965960"/>
            <a:ext cx="24871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9312" y="217627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9312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31821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管理者不知道先看哪里、为什么重要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9312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Overview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880360"/>
            <a:ext cx="365760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1965960"/>
            <a:ext cx="24871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1384" y="217627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01384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分析难复用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1384" y="31821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人工报告慢，数据更新后要重做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01384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A→B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05672" y="2880360"/>
            <a:ext cx="365760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0576" y="1965960"/>
            <a:ext cx="2487168" cy="2468880"/>
          </a:xfrm>
          <a:prstGeom prst="roundRect">
            <a:avLst>
              <a:gd name="adj" fmla="val 2963"/>
            </a:avLst>
          </a:prstGeom>
          <a:solidFill>
            <a:srgbClr val="E3F4F1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63456" y="2176272"/>
            <a:ext cx="54864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63456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63456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经验难规模化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63456" y="31821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专家判断停留在个人或一次性项目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63456" y="3968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 / SOP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4892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三类核心用户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53492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7F9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0392" y="54681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5404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秒内知道最重要的 3 个结论与优先动作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434840" y="53492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7F9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99432" y="54681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/ Energy Manager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5404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从结论定位证据，并进入 AI Analysis 深挖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8183880" y="534924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4F7F9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48472" y="54681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Delivery Team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35440" y="5404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管理项目、模型、Skill、Method、Tool 与 Run Trace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一条从可信数据到可复用行业智能的完整价值链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公共平台统一运行与治理；每个项目保留自己的 Renderer、Section Pack 和分析问题。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39112"/>
            <a:ext cx="384048" cy="384048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52728" y="20208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Snapshot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3592" y="2039112"/>
            <a:ext cx="384048" cy="384048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87368" y="20208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2039112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22008" y="20208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8745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62872" y="2039112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56648" y="20208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116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" y="3410712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52728" y="3392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Additional Insights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93592" y="3410712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87368" y="3392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Analyst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Investigate · Report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28232" y="3410712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22008" y="3392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4652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 · SOP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9828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62872" y="3410712"/>
            <a:ext cx="384048" cy="384048"/>
          </a:xfrm>
          <a:prstGeom prst="ellipse">
            <a:avLst/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62872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56648" y="33924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8116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Governed proposal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063240" y="24048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063240" y="37764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897880" y="24048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897880" y="37764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732520" y="24048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732520" y="3776472"/>
            <a:ext cx="320040" cy="0"/>
          </a:xfrm>
          <a:prstGeom prst="line">
            <a:avLst/>
          </a:prstGeom>
          <a:noFill/>
          <a:ln w="15240">
            <a:solidFill>
              <a:srgbClr val="AEBCC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27080" y="4315968"/>
            <a:ext cx="0" cy="512064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17320" y="4828032"/>
            <a:ext cx="950976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  <a:headEnd type="triangle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4023360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有价值的方法进入下一次 Snapshot 复跑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" y="5166360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8680" y="53309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194560" y="525780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/ Project isolation   ·   Artifact identity &amp; restore   ·   Model / Skill / Method / Tool   ·   Run trace   ·   Human approval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真实进度必须区分工程验证、人工验收和规划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状态截至 17 Aug 2026；主线 commit 为 main@7070843。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0574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Workstream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18288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Truth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18288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Layer 1–3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18288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A→B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1828800" cy="502920"/>
          </a:xfrm>
          <a:prstGeom prst="rect">
            <a:avLst/>
          </a:prstGeom>
          <a:solidFill>
            <a:srgbClr val="102A4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acceptance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20574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3317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233172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44144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233172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44144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33172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44144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233172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44144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2441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2898648"/>
            <a:ext cx="2057400" cy="512064"/>
          </a:xfrm>
          <a:prstGeom prst="rect">
            <a:avLst/>
          </a:prstGeom>
          <a:solidFill>
            <a:srgbClr val="F4F7F9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28986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Preschool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51760" y="2898648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300837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008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2898648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00837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08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2898648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300837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008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38160" y="2898648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3008376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3008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360" y="3465576"/>
            <a:ext cx="20574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346557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Ngee Ann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51760" y="3465576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357530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80560" y="3465576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57530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开发中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3465576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0" y="357530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138160" y="3465576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0" y="3575304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35753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4360" y="4032504"/>
            <a:ext cx="2057400" cy="512064"/>
          </a:xfrm>
          <a:prstGeom prst="rect">
            <a:avLst/>
          </a:prstGeom>
          <a:solidFill>
            <a:srgbClr val="F4F7F9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" y="40325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Harness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651760" y="4032504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0" y="41422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0" y="4142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480560" y="4032504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41422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4142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309360" y="4032504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83680" y="41422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4142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138160" y="4032504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12480" y="4142232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4142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待验收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94360" y="4599432"/>
            <a:ext cx="20574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" y="459943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 / SOP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651760" y="4599432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80" y="47091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480560" y="4599432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0" y="47091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09360" y="4599432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83680" y="47091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8368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138160" y="4599432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12480" y="470916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12480" y="4709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94360" y="5166360"/>
            <a:ext cx="2057400" cy="512064"/>
          </a:xfrm>
          <a:prstGeom prst="rect">
            <a:avLst/>
          </a:prstGeom>
          <a:solidFill>
            <a:srgbClr val="F4F7F9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8952" y="516636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Coding Agent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2651760" y="516636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26080" y="527608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26080" y="5276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480560" y="516636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54880" y="527608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54880" y="5276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09360" y="516636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83680" y="527608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83680" y="5276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A5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138160" y="5166360"/>
            <a:ext cx="182880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12480" y="527608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412480" y="52760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发现阶段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012680" y="1828800"/>
            <a:ext cx="1600200" cy="3913632"/>
          </a:xfrm>
          <a:prstGeom prst="roundRect">
            <a:avLst>
              <a:gd name="adj" fmla="val 4571"/>
            </a:avLst>
          </a:prstGeom>
          <a:solidFill>
            <a:srgbClr val="FFF3D6"/>
          </a:solidFill>
          <a:ln w="10160">
            <a:solidFill>
              <a:srgbClr val="F0D79D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10241280" y="2103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D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管理判断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10222992" y="2697480"/>
            <a:ext cx="1188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当前不是继续堆功能的阶段。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最短关键路径：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客户验收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Ngee 复用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A→B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6F4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Feedback → SOP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10222992" y="51480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不把测试通过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写成客户接受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PROGRESSION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产品价值从“看见”递进到“规模化复用”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每一层都建立在前一层的可信结果上；AI 不是独立演示。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450799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45079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49834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可信数据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537667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4919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/ Evidence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53512" y="3858768"/>
            <a:ext cx="199339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18104" y="4023360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A8197"/>
          </a:solidFill>
          <a:ln w="12700">
            <a:solidFill>
              <a:srgbClr val="2A81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40233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18104" y="449884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看懂全局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18104" y="489204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8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36392" y="4919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21224" y="3374136"/>
            <a:ext cx="1993392" cy="202082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85816" y="3538728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353872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85816" y="40142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理解板块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85816" y="44074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04104" y="4919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Cards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88936" y="2889504"/>
            <a:ext cx="1993392" cy="2505456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53528" y="3054096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305409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53528" y="352958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发现新角度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53528" y="392277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71816" y="4919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56648" y="2404872"/>
            <a:ext cx="1993392" cy="2990088"/>
          </a:xfrm>
          <a:prstGeom prst="roundRect">
            <a:avLst>
              <a:gd name="adj" fmla="val 3670"/>
            </a:avLst>
          </a:prstGeom>
          <a:solidFill>
            <a:srgbClr val="FFF3D6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21240" y="2569464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25694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921240" y="3044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沉淀与扩展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21240" y="343814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939528" y="49194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/ SOP / 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" y="5870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数据可信度与治理能力同步增加  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60920" y="5870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用户价值与产品壁垒同步增加  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Preschool 证明分析深度，Ngee Ann 证明跨项目复用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两个项目不共享同一套 Section；共享的是 Snapshot、Artifact、恢复、权限和治理机制。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PRESCHOOL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6151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decision intelligence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1546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Centre benchmark · Operating behaviour · Key Findings · Section Interpretation · Additional Insights · A→B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9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Gate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0416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人工审核内容价值、视觉层级和多账户客户旅程。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证明：AI 可以在可信事实之上提供新角度，而不是只复述数据。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230368" cy="3429000"/>
          </a:xfrm>
          <a:prstGeom prst="roundRect">
            <a:avLst>
              <a:gd name="adj" fmla="val 2133"/>
            </a:avLst>
          </a:prstGeom>
          <a:solidFill>
            <a:srgbClr val="E3F4F1"/>
          </a:solidFill>
          <a:ln w="10160">
            <a:solidFill>
              <a:srgbClr val="B7DED6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1031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1031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NGEE ANN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0" y="26151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operational intelligence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31546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Level/Circuit analysis · Time behaviour · Decision priorities · Deterministic Overview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9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3986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完成服务端持久化 Layer 1–3、人审、Saved restore 和真实 Snapshot A→B。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5836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证明：同一平台可以服务不同项目，而不是复制 Preschool。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504688"/>
            <a:ext cx="10899648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641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PLANE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5577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· Generate missing · Run trace · Harness configuration · Finding / Skill / Method / Tool explainability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项目专属表达，建立在共享的可信数据与 AI 控制面之上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这张图替换原文件中的通用 IoT 六层架构，体现 EnergyIQ 当前真实产品边界。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E8F1F7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Experience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82880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Project Explorer · AI Analyst · Admin · Reports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95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Project Product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395728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 Registry · Project Recipe · Template Release · A/B Change Summary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962656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626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Governed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962656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· Section Interpretation · Additional Insights · AI Analysis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29584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5295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Harness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52958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Profile · Skill · Method · Tool · Context Policy · Run Finalizer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E8F1F7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096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Analysis Contracts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4096512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Pack · Analysis Pack · Evidence Catalog · Exact Read Models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63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Data Foundation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466344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Batch · Reading · Interval Fact · Metric/Rule Revisions · Snapshot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230368"/>
            <a:ext cx="8732520" cy="4572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762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230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Persistence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5230368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Artifact Store · Saved Analysis · Run/Event Trace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46920" y="1828800"/>
            <a:ext cx="1874520" cy="3858768"/>
          </a:xfrm>
          <a:prstGeom prst="roundRect">
            <a:avLst>
              <a:gd name="adj" fmla="val 3902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93808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21240" y="2697480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2697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05872" y="270662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/ Project isolation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921240" y="3127248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05872" y="313639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Artifact restore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9921240" y="3557016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21240" y="3557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05872" y="3566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secrets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921240" y="3986784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405872" y="3995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backup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9921240" y="4416552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212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05872" y="442569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9921240" y="4846320"/>
            <a:ext cx="438912" cy="438912"/>
          </a:xfrm>
          <a:prstGeom prst="ellipse">
            <a:avLst/>
          </a:prstGeom>
          <a:solidFill>
            <a:srgbClr val="315B70"/>
          </a:solidFill>
          <a:ln w="12700">
            <a:solidFill>
              <a:srgbClr val="315B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21240" y="4846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405872" y="485546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Operations trace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713232" y="5961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公共机制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554480" y="5925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身份、存储、恢复、权限、Run 与治理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92240" y="5961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项目专属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60920" y="5925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Renderer、Pack、指标、Section 与管理问题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A→B 不是对比两份报告，而是验证系统随新数据重新思考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 Snapshot 必须改变 Overview、AI 数据域和结论；旧 Artifact 不能冒充当前结果。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8F1F7"/>
          </a:solidFill>
          <a:ln w="10160">
            <a:solidFill>
              <a:srgbClr val="C5DDE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21284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128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2788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历史可信档案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273552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Insights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Insights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96596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E3F4F1"/>
          </a:solidFill>
          <a:ln w="10160">
            <a:solidFill>
              <a:srgbClr val="B7DED6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221284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2128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47288" y="27889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新数据档案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273552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重新计算 Facts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重新生成 Artifacts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AI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检测新异常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24912" y="2788920"/>
            <a:ext cx="402336" cy="640080"/>
          </a:xfrm>
          <a:prstGeom prst="chevron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96596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1888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61888" y="278892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lineage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changes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788920"/>
            <a:ext cx="402336" cy="640080"/>
          </a:xfrm>
          <a:prstGeom prst="chevron">
            <a:avLst/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0574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DDF3EC"/>
          </a:solidFill>
          <a:ln w="10160">
            <a:solidFill>
              <a:srgbClr val="DDF3EC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01000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46920" y="20574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46920" y="21305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4692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01000" y="3136392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E3F4F1"/>
          </a:solidFill>
          <a:ln w="10160">
            <a:solidFill>
              <a:srgbClr val="E3F4F1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01000" y="32095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01000" y="3575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46920" y="3136392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BE7EA"/>
          </a:solidFill>
          <a:ln w="10160">
            <a:solidFill>
              <a:srgbClr val="FBE7E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46920" y="32095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C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46920" y="3575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4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10561320" cy="1097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" y="5010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FLYWHEEL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4028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用户认为 Insight 有价值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023360" y="4956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7408" y="4956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Method Proposal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4956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37960" y="4956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审核并发布 SOP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65008" y="4956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C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58200" y="4956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进入未来 Snapshot 复跑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80160" y="550468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FC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技术验收：旧 Artifact 不复用 · 普通刷新不新增 Provider Run · AI Analyst 数据域切换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ROUTE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先用真实数据证明价值，再扩项目、方法和治理能力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以下是商业假设，需要用 Charles 与 Ngee 的真实反馈验证，不是最终价格表。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6771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67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281635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4107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单项目数据诊断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41879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44348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客户认可结论值得深挖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26080" y="2487168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265176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6517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32004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79476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+ AI + A→B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438912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0" y="46360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两次数据更新持续产生价值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193792" y="2871216"/>
            <a:ext cx="1993392" cy="24688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58384" y="3035808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30358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76672" y="35844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76672" y="417880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共享平台 + 项目专属 Pack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76672" y="459028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76672" y="483717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新增项目无需平台分叉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461504" y="3255264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26096" y="3419856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34198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44384" y="39684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Intelligence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44384" y="4562856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 / SOP Library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44384" y="479145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44384" y="503834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专家经验跨项目复用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729216" y="3639312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FF3D6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93808" y="3803904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93808" y="3803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12096" y="4352544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12096" y="4946904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/ Trace / Policy /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12096" y="499262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912096" y="52395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治理与运营要求通过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58368" y="5715000"/>
            <a:ext cx="10927080" cy="384048"/>
          </a:xfrm>
          <a:prstGeom prst="roundRect">
            <a:avLst>
              <a:gd name="adj" fmla="val 19048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2960" y="5760720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价值指标：首次找到优先事项的时间 · Explore with AI 转化 · A→B 新/更新结论 · Method 复用率 · 项目扩展数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天主线：技术完成 → AI 优化 → 用户反馈 → Pilot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以产品阶段和客户结果为主；日期为规划基线，验收完成后再转成正式承诺。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3D6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1488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488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17–28 Aug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技术收尾与稳定上线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核心功能收尾、部署、稳定性与多账户验收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4279392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5DFA7"/>
          </a:solidFill>
          <a:ln w="10160">
            <a:solidFill>
              <a:srgbClr val="F5DFA7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159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稳定版本可供测试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82112" y="3108960"/>
            <a:ext cx="310896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3008" y="192024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03320" y="21488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1488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7408" y="2167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Aug–18 Sep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21608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价值与体验优化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21608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优化分析内容、视觉表达和新数据变化说明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21608" y="4279392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4F7F9"/>
          </a:solidFill>
          <a:ln w="10160">
            <a:solidFill>
              <a:srgbClr val="F4F7F9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21608" y="43159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AI 结果清晰且有价值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3108960"/>
            <a:ext cx="310896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192024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21488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1488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0336" y="2167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Aug–9 Oct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74536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用户验证与反馈闭环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74536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Charles 与 Ngee Ann 试用、收集反馈、持续改进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74536" y="4279392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4F7F9"/>
          </a:solidFill>
          <a:ln w="10160">
            <a:solidFill>
              <a:srgbClr val="F4F7F9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74536" y="43159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反馈转成优化优先级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87968" y="3108960"/>
            <a:ext cx="310896" cy="594360"/>
          </a:xfrm>
          <a:prstGeom prst="chevron">
            <a:avLst/>
          </a:prstGeom>
          <a:solidFill>
            <a:srgbClr val="B9CCD8"/>
          </a:solidFill>
          <a:ln w="12700">
            <a:solidFill>
              <a:srgbClr val="B9CC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8864" y="192024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09176" y="21488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9176" y="21488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13264" y="2167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Oct–6 Nov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27464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产品化与试点扩展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427464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Pilot 交付包、运营方案和下一版本计划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27464" y="4279392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4F7F9"/>
          </a:solidFill>
          <a:ln w="10160">
            <a:solidFill>
              <a:srgbClr val="F4F7F9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427464" y="43159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· 下一阶段投入决策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" y="5257800"/>
            <a:ext cx="10927080" cy="685800"/>
          </a:xfrm>
          <a:prstGeom prst="roundRect">
            <a:avLst>
              <a:gd name="adj" fmla="val 10667"/>
            </a:avLst>
          </a:prstGeom>
          <a:solidFill>
            <a:srgbClr val="F4F7F9"/>
          </a:solidFill>
          <a:ln w="10160">
            <a:solidFill>
              <a:srgbClr val="D6DEE5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" y="54498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4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RULE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94560" y="5385816"/>
            <a:ext cx="8915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Verified ≠ Customer Accepted. 只有出口条件、owner、依赖、证据路径与签字齐全，日期才成为承诺。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GANTT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管理甘特图：技术完成、AI 优化、用户反馈与试点扩展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按周展示管理层关心的关键工作和责任方；技术任务已归并为可理解的产品阶段。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1847088"/>
            <a:ext cx="475488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84708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24128" y="1847088"/>
            <a:ext cx="2121408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4708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关键交付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82112" y="1847088"/>
            <a:ext cx="822960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847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41648" y="1847088"/>
            <a:ext cx="640080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1847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09160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Aug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5285232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Aug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5861304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61304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Aug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6437376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Sep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7013448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Sep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7589520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Sep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8165592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Sep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8741664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41664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Oct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9317736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7736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Oct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9893808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93808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Oct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10469880" y="1847088"/>
            <a:ext cx="576072" cy="310896"/>
          </a:xfrm>
          <a:prstGeom prst="rect">
            <a:avLst/>
          </a:prstGeom>
          <a:solidFill>
            <a:srgbClr val="246B8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69880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Oct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11045952" y="1847088"/>
            <a:ext cx="576072" cy="310896"/>
          </a:xfrm>
          <a:prstGeom prst="rect">
            <a:avLst/>
          </a:prstGeom>
          <a:solidFill>
            <a:srgbClr val="102A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45952" y="1847088"/>
            <a:ext cx="576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Nov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530352" y="2212848"/>
            <a:ext cx="11091672" cy="356616"/>
          </a:xfrm>
          <a:prstGeom prst="rect">
            <a:avLst/>
          </a:prstGeom>
          <a:solidFill>
            <a:srgbClr val="FFF9EC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2212848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R1-1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069848" y="2212848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核心技术功能收尾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3209544" y="2212848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4059936" y="2212848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709160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5232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61304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37376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13448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65592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41664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17736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93808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469880" y="221284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45952" y="221284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41164" y="2263140"/>
            <a:ext cx="1088136" cy="256032"/>
          </a:xfrm>
          <a:prstGeom prst="roundRect">
            <a:avLst>
              <a:gd name="adj" fmla="val 14286"/>
            </a:avLst>
          </a:prstGeom>
          <a:solidFill>
            <a:srgbClr val="E59D2A"/>
          </a:solidFill>
          <a:ln w="12700">
            <a:solidFill>
              <a:srgbClr val="E59D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" y="2569464"/>
            <a:ext cx="11091672" cy="356616"/>
          </a:xfrm>
          <a:prstGeom prst="rect">
            <a:avLst/>
          </a:prstGeom>
          <a:solidFill>
            <a:srgbClr val="FFF9EC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" y="2569464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59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R1-2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1069848" y="2569464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发布、稳定性与多账户验收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3209544" y="2569464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· Ops</a:t>
            </a:r>
            <a:endParaRPr lang="en-US" sz="660" dirty="0"/>
          </a:p>
        </p:txBody>
      </p:sp>
      <p:sp>
        <p:nvSpPr>
          <p:cNvPr id="59" name="Text 57"/>
          <p:cNvSpPr/>
          <p:nvPr/>
        </p:nvSpPr>
        <p:spPr>
          <a:xfrm>
            <a:off x="4059936" y="256946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R1-1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709160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85232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61304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37376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13448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89520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65592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41664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17736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93808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69880" y="256946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45952" y="256946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17236" y="2619756"/>
            <a:ext cx="1088136" cy="256032"/>
          </a:xfrm>
          <a:prstGeom prst="roundRect">
            <a:avLst>
              <a:gd name="adj" fmla="val 14286"/>
            </a:avLst>
          </a:prstGeom>
          <a:solidFill>
            <a:srgbClr val="E59D2A"/>
          </a:solidFill>
          <a:ln w="12700">
            <a:solidFill>
              <a:srgbClr val="E59D2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0352" y="2926080"/>
            <a:ext cx="11091672" cy="356616"/>
          </a:xfrm>
          <a:prstGeom prst="rect">
            <a:avLst/>
          </a:prstGeom>
          <a:solidFill>
            <a:srgbClr val="F3F8FB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" y="2926080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R2-1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1069848" y="2926080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Preschool AI 内容与视觉优化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3209544" y="2926080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AI</a:t>
            </a:r>
            <a:endParaRPr lang="en-US" sz="660" dirty="0"/>
          </a:p>
        </p:txBody>
      </p:sp>
      <p:sp>
        <p:nvSpPr>
          <p:cNvPr id="77" name="Text 75"/>
          <p:cNvSpPr/>
          <p:nvPr/>
        </p:nvSpPr>
        <p:spPr>
          <a:xfrm>
            <a:off x="4059936" y="2926080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R1-1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4709160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85232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61304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37376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13448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65592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41664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317736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93808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469880" y="292608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45952" y="292608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17236" y="2976372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246B8E"/>
          </a:solidFill>
          <a:ln w="12700">
            <a:solidFill>
              <a:srgbClr val="246B8E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" y="3282696"/>
            <a:ext cx="11091672" cy="356616"/>
          </a:xfrm>
          <a:prstGeom prst="rect">
            <a:avLst/>
          </a:prstGeom>
          <a:solidFill>
            <a:srgbClr val="F3F8FB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7784" y="3282696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R2-2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1069848" y="3282696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Ngee Ann AI 分析能力上线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3209544" y="3282696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AI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4059936" y="3282696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R1-1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4709160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85232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61304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37376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13448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589520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65592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41664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317736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93808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469880" y="328269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1045952" y="328269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17236" y="3332988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246B8E"/>
          </a:solidFill>
          <a:ln w="12700">
            <a:solidFill>
              <a:srgbClr val="246B8E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30352" y="3639312"/>
            <a:ext cx="11091672" cy="356616"/>
          </a:xfrm>
          <a:prstGeom prst="rect">
            <a:avLst/>
          </a:prstGeom>
          <a:solidFill>
            <a:srgbClr val="F3F8FB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7784" y="363931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46B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R2-3</a:t>
            </a:r>
            <a:endParaRPr lang="en-US" sz="720" dirty="0"/>
          </a:p>
        </p:txBody>
      </p:sp>
      <p:sp>
        <p:nvSpPr>
          <p:cNvPr id="111" name="Text 109"/>
          <p:cNvSpPr/>
          <p:nvPr/>
        </p:nvSpPr>
        <p:spPr>
          <a:xfrm>
            <a:off x="1069848" y="3639312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新数据前后变化说明</a:t>
            </a:r>
            <a:endParaRPr lang="en-US" sz="740" dirty="0"/>
          </a:p>
        </p:txBody>
      </p:sp>
      <p:sp>
        <p:nvSpPr>
          <p:cNvPr id="112" name="Text 110"/>
          <p:cNvSpPr/>
          <p:nvPr/>
        </p:nvSpPr>
        <p:spPr>
          <a:xfrm>
            <a:off x="3209544" y="3639312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60" dirty="0"/>
          </a:p>
        </p:txBody>
      </p:sp>
      <p:sp>
        <p:nvSpPr>
          <p:cNvPr id="113" name="Text 111"/>
          <p:cNvSpPr/>
          <p:nvPr/>
        </p:nvSpPr>
        <p:spPr>
          <a:xfrm>
            <a:off x="4059936" y="3639312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R2-1/2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4709160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285232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61304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37376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13448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589520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165592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741664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317736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93808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469880" y="363931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45952" y="363931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893308" y="3689604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246B8E"/>
          </a:solidFill>
          <a:ln w="12700">
            <a:solidFill>
              <a:srgbClr val="246B8E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0352" y="3995928"/>
            <a:ext cx="11091672" cy="356616"/>
          </a:xfrm>
          <a:prstGeom prst="rect">
            <a:avLst/>
          </a:prstGeom>
          <a:solidFill>
            <a:srgbClr val="F1FAF8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57784" y="3995928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R3-1</a:t>
            </a:r>
            <a:endParaRPr lang="en-US" sz="720" dirty="0"/>
          </a:p>
        </p:txBody>
      </p:sp>
      <p:sp>
        <p:nvSpPr>
          <p:cNvPr id="129" name="Text 127"/>
          <p:cNvSpPr/>
          <p:nvPr/>
        </p:nvSpPr>
        <p:spPr>
          <a:xfrm>
            <a:off x="1069848" y="3995928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Charles / Ngee Ann 用户试用</a:t>
            </a:r>
            <a:endParaRPr lang="en-US" sz="740" dirty="0"/>
          </a:p>
        </p:txBody>
      </p:sp>
      <p:sp>
        <p:nvSpPr>
          <p:cNvPr id="130" name="Text 128"/>
          <p:cNvSpPr/>
          <p:nvPr/>
        </p:nvSpPr>
        <p:spPr>
          <a:xfrm>
            <a:off x="3209544" y="3995928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QA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4059936" y="3995928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R1-2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4709160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285232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61304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437376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013448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89520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165592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741664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317736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93808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69880" y="3995928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45952" y="3995928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893308" y="4046220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0B7A75"/>
          </a:solidFill>
          <a:ln w="12700">
            <a:solidFill>
              <a:srgbClr val="0B7A75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0352" y="4352544"/>
            <a:ext cx="11091672" cy="356616"/>
          </a:xfrm>
          <a:prstGeom prst="rect">
            <a:avLst/>
          </a:prstGeom>
          <a:solidFill>
            <a:srgbClr val="F1FAF8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7784" y="4352544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R3-2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1069848" y="4352544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收集反馈并排序改进</a:t>
            </a:r>
            <a:endParaRPr lang="en-US" sz="740" dirty="0"/>
          </a:p>
        </p:txBody>
      </p:sp>
      <p:sp>
        <p:nvSpPr>
          <p:cNvPr id="148" name="Text 146"/>
          <p:cNvSpPr/>
          <p:nvPr/>
        </p:nvSpPr>
        <p:spPr>
          <a:xfrm>
            <a:off x="3209544" y="4352544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60" dirty="0"/>
          </a:p>
        </p:txBody>
      </p:sp>
      <p:sp>
        <p:nvSpPr>
          <p:cNvPr id="149" name="Text 147"/>
          <p:cNvSpPr/>
          <p:nvPr/>
        </p:nvSpPr>
        <p:spPr>
          <a:xfrm>
            <a:off x="4059936" y="4352544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R3-1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4709160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285232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61304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437376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013448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589520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165592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41664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317736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893808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469880" y="4352544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1045952" y="4352544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69380" y="4402836"/>
            <a:ext cx="2816352" cy="256032"/>
          </a:xfrm>
          <a:prstGeom prst="roundRect">
            <a:avLst>
              <a:gd name="adj" fmla="val 14286"/>
            </a:avLst>
          </a:prstGeom>
          <a:solidFill>
            <a:srgbClr val="0B7A75"/>
          </a:solidFill>
          <a:ln w="12700">
            <a:solidFill>
              <a:srgbClr val="0B7A75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30352" y="4709160"/>
            <a:ext cx="11091672" cy="356616"/>
          </a:xfrm>
          <a:prstGeom prst="rect">
            <a:avLst/>
          </a:prstGeom>
          <a:solidFill>
            <a:srgbClr val="F1FAF8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57784" y="4709160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R3-3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1069848" y="4709160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有价值洞察沉淀为方法与 SOP</a:t>
            </a:r>
            <a:endParaRPr lang="en-US" sz="740" dirty="0"/>
          </a:p>
        </p:txBody>
      </p:sp>
      <p:sp>
        <p:nvSpPr>
          <p:cNvPr id="166" name="Text 164"/>
          <p:cNvSpPr/>
          <p:nvPr/>
        </p:nvSpPr>
        <p:spPr>
          <a:xfrm>
            <a:off x="3209544" y="4709160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· AI</a:t>
            </a:r>
            <a:endParaRPr lang="en-US" sz="660" dirty="0"/>
          </a:p>
        </p:txBody>
      </p:sp>
      <p:sp>
        <p:nvSpPr>
          <p:cNvPr id="167" name="Text 165"/>
          <p:cNvSpPr/>
          <p:nvPr/>
        </p:nvSpPr>
        <p:spPr>
          <a:xfrm>
            <a:off x="4059936" y="4709160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R3-2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4709160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285232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861304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37376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13448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589520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165592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741664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317736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893808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469880" y="4709160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045952" y="4709160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621524" y="4759452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0B7A75"/>
          </a:solidFill>
          <a:ln w="12700">
            <a:solidFill>
              <a:srgbClr val="0B7A75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30352" y="5065776"/>
            <a:ext cx="11091672" cy="356616"/>
          </a:xfrm>
          <a:prstGeom prst="rect">
            <a:avLst/>
          </a:prstGeom>
          <a:solidFill>
            <a:srgbClr val="F4FAF5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57784" y="5065776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R4-1</a:t>
            </a:r>
            <a:endParaRPr lang="en-US" sz="720" dirty="0"/>
          </a:p>
        </p:txBody>
      </p:sp>
      <p:sp>
        <p:nvSpPr>
          <p:cNvPr id="183" name="Text 181"/>
          <p:cNvSpPr/>
          <p:nvPr/>
        </p:nvSpPr>
        <p:spPr>
          <a:xfrm>
            <a:off x="1069848" y="5065776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交付包与运营方案</a:t>
            </a:r>
            <a:endParaRPr lang="en-US" sz="740" dirty="0"/>
          </a:p>
        </p:txBody>
      </p:sp>
      <p:sp>
        <p:nvSpPr>
          <p:cNvPr id="184" name="Text 182"/>
          <p:cNvSpPr/>
          <p:nvPr/>
        </p:nvSpPr>
        <p:spPr>
          <a:xfrm>
            <a:off x="3209544" y="5065776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Ops</a:t>
            </a:r>
            <a:endParaRPr lang="en-US" sz="660" dirty="0"/>
          </a:p>
        </p:txBody>
      </p:sp>
      <p:sp>
        <p:nvSpPr>
          <p:cNvPr id="185" name="Text 183"/>
          <p:cNvSpPr/>
          <p:nvPr/>
        </p:nvSpPr>
        <p:spPr>
          <a:xfrm>
            <a:off x="4059936" y="5065776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R3-2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4709160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285232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5861304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437376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013448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589520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165592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41664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317736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893808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469880" y="5065776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045952" y="5065776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349740" y="5116068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30352" y="5422392"/>
            <a:ext cx="11091672" cy="356616"/>
          </a:xfrm>
          <a:prstGeom prst="rect">
            <a:avLst/>
          </a:prstGeom>
          <a:solidFill>
            <a:srgbClr val="F4FAF5"/>
          </a:solidFill>
          <a:ln w="4445">
            <a:solidFill>
              <a:srgbClr val="D6DEE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57784" y="5422392"/>
            <a:ext cx="420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R4-2</a:t>
            </a:r>
            <a:endParaRPr lang="en-US" sz="720" dirty="0"/>
          </a:p>
        </p:txBody>
      </p:sp>
      <p:sp>
        <p:nvSpPr>
          <p:cNvPr id="201" name="Text 199"/>
          <p:cNvSpPr/>
          <p:nvPr/>
        </p:nvSpPr>
        <p:spPr>
          <a:xfrm>
            <a:off x="1069848" y="5422392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下一版本与商业化决策</a:t>
            </a:r>
            <a:endParaRPr lang="en-US" sz="740" dirty="0"/>
          </a:p>
        </p:txBody>
      </p:sp>
      <p:sp>
        <p:nvSpPr>
          <p:cNvPr id="202" name="Text 200"/>
          <p:cNvSpPr/>
          <p:nvPr/>
        </p:nvSpPr>
        <p:spPr>
          <a:xfrm>
            <a:off x="3209544" y="5422392"/>
            <a:ext cx="768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660" dirty="0"/>
          </a:p>
        </p:txBody>
      </p:sp>
      <p:sp>
        <p:nvSpPr>
          <p:cNvPr id="203" name="Text 201"/>
          <p:cNvSpPr/>
          <p:nvPr/>
        </p:nvSpPr>
        <p:spPr>
          <a:xfrm>
            <a:off x="4059936" y="5422392"/>
            <a:ext cx="6035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R4-1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4709160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285232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861304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437376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013448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589520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165592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741664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317736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893808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469880" y="5422392"/>
            <a:ext cx="576072" cy="356616"/>
          </a:xfrm>
          <a:prstGeom prst="rect">
            <a:avLst/>
          </a:prstGeom>
          <a:solidFill>
            <a:srgbClr val="FFFFFF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1045952" y="5422392"/>
            <a:ext cx="576072" cy="356616"/>
          </a:xfrm>
          <a:prstGeom prst="rect">
            <a:avLst/>
          </a:prstGeom>
          <a:solidFill>
            <a:srgbClr val="F8FAFC">
              <a:alpha val="75000"/>
            </a:srgbClr>
          </a:solidFill>
          <a:ln w="3810">
            <a:solidFill>
              <a:srgbClr val="D6DEE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1077956" y="5472684"/>
            <a:ext cx="512064" cy="256032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66928" y="59253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4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800" dirty="0"/>
          </a:p>
        </p:txBody>
      </p:sp>
      <p:sp>
        <p:nvSpPr>
          <p:cNvPr id="218" name="Text 216"/>
          <p:cNvSpPr/>
          <p:nvPr/>
        </p:nvSpPr>
        <p:spPr>
          <a:xfrm>
            <a:off x="1234440" y="5925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59D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G1 稳定版本可测试</a:t>
            </a:r>
            <a:endParaRPr lang="en-US" sz="800" dirty="0"/>
          </a:p>
        </p:txBody>
      </p:sp>
      <p:sp>
        <p:nvSpPr>
          <p:cNvPr id="219" name="Text 217"/>
          <p:cNvSpPr/>
          <p:nvPr/>
        </p:nvSpPr>
        <p:spPr>
          <a:xfrm>
            <a:off x="3310128" y="59253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46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 AI 结果清晰且有价值</a:t>
            </a:r>
            <a:endParaRPr lang="en-US" sz="800" dirty="0"/>
          </a:p>
        </p:txBody>
      </p:sp>
      <p:sp>
        <p:nvSpPr>
          <p:cNvPr id="220" name="Text 218"/>
          <p:cNvSpPr/>
          <p:nvPr/>
        </p:nvSpPr>
        <p:spPr>
          <a:xfrm>
            <a:off x="5440680" y="59253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G3 用户反馈形成优先级</a:t>
            </a:r>
            <a:endParaRPr lang="en-US" sz="800" dirty="0"/>
          </a:p>
        </p:txBody>
      </p:sp>
      <p:sp>
        <p:nvSpPr>
          <p:cNvPr id="221" name="Text 219"/>
          <p:cNvSpPr/>
          <p:nvPr/>
        </p:nvSpPr>
        <p:spPr>
          <a:xfrm>
            <a:off x="7296912" y="59253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G4 下一阶段投入决策</a:t>
            </a:r>
            <a:endParaRPr lang="en-US" sz="800" dirty="0"/>
          </a:p>
        </p:txBody>
      </p:sp>
      <p:sp>
        <p:nvSpPr>
          <p:cNvPr id="222" name="Text 220"/>
          <p:cNvSpPr/>
          <p:nvPr/>
        </p:nvSpPr>
        <p:spPr>
          <a:xfrm>
            <a:off x="9281160" y="592531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C94C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日期为规划假设，不是客户承诺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8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D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NEXT ACTIONS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下一步不是继续堆功能，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而是把已形成的能力变成客户可验证的价值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5989320" cy="758952"/>
          </a:xfrm>
          <a:prstGeom prst="roundRect">
            <a:avLst>
              <a:gd name="adj" fmla="val 9639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898648"/>
            <a:ext cx="438912" cy="438912"/>
          </a:xfrm>
          <a:prstGeom prst="ellipse">
            <a:avLst/>
          </a:prstGeom>
          <a:solidFill>
            <a:srgbClr val="E59D2A"/>
          </a:solidFill>
          <a:ln w="12700">
            <a:solidFill>
              <a:srgbClr val="E59D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产品优先级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8254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6E4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 Ngee Layer 1–3、A→B 与反馈闭环，再扩大 Coding Agent。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3703320"/>
            <a:ext cx="5989320" cy="758952"/>
          </a:xfrm>
          <a:prstGeom prst="roundRect">
            <a:avLst>
              <a:gd name="adj" fmla="val 9639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858768"/>
            <a:ext cx="438912" cy="43891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58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3813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验收责任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37856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6E4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Product、Energy、QA/UAT 和 Operations owner。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5989320" cy="758952"/>
          </a:xfrm>
          <a:prstGeom prst="roundRect">
            <a:avLst>
              <a:gd name="adj" fmla="val 9639"/>
            </a:avLst>
          </a:prstGeom>
          <a:solidFill>
            <a:srgbClr val="132F45"/>
          </a:solidFill>
          <a:ln w="10160">
            <a:solidFill>
              <a:srgbClr val="31536A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18888"/>
            <a:ext cx="438912" cy="43891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18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4773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商业验证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47457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6E4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Charles 与 Ngee 的实际使用验证 Pilot 包装、价值指标和 SOP 付费假设。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452360" y="114300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8FA0AD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5544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未来两周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818120" y="2240280"/>
            <a:ext cx="438912" cy="43891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240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Preschool 内容与视觉人工验收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2852928"/>
            <a:ext cx="438912" cy="43891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825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Charles / Ngee 多账户旅程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3465576"/>
            <a:ext cx="438912" cy="438912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3438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 Ngee 服务端 Layer 1–3 Adapter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4078224"/>
            <a:ext cx="438912" cy="438912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40507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准备并运行 Ngee Snapshot 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4690872"/>
            <a:ext cx="438912" cy="438912"/>
          </a:xfrm>
          <a:prstGeom prst="ellipse">
            <a:avLst/>
          </a:prstGeom>
          <a:solidFill>
            <a:srgbClr val="246B8E"/>
          </a:solidFill>
          <a:ln w="12700">
            <a:solidFill>
              <a:srgbClr val="246B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690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6676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Runbook、Evidence 与风险清单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45552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最终目标：把一次性分析变成可复跑、可审核、可复用的能源智能产品。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63093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FA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EnergyIQ · Management Draft · 17 Aug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EnergyIQ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EnergyIQ Product Strategy &amp; Delivery Roadmap</dc:title>
  <dc:subject>Product strategy, technical architecture, business route and delivery roadmap</dc:subject>
  <dc:creator>EnergyIQ</dc:creator>
  <cp:lastModifiedBy>EnergyIQ</cp:lastModifiedBy>
  <cp:revision>1</cp:revision>
  <dcterms:created xsi:type="dcterms:W3CDTF">2026-08-17T14:52:44Z</dcterms:created>
  <dcterms:modified xsi:type="dcterms:W3CDTF">2026-08-17T14:52:44Z</dcterms:modified>
</cp:coreProperties>
</file>