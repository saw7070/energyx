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3" r:id="rId8"/>
    <p:sldId id="264" r:id="rId9"/>
    <p:sldId id="265" r:id="rId10"/>
    <p:sldId id="267" r:id="rId11"/>
    <p:sldId id="266" r:id="rId12"/>
    <p:sldId id="268" r:id="rId13"/>
    <p:sldId id="269" r:id="rId14"/>
  </p:sldIdLst>
  <p:sldSz cx="12192000" cy="6858000"/>
  <p:notesSz cx="6858000" cy="9144000"/>
  <p:defaultTextStyle>
    <a:defPPr>
      <a:defRPr lang="zh-SG"/>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0" autoAdjust="0"/>
    <p:restoredTop sz="94660"/>
  </p:normalViewPr>
  <p:slideViewPr>
    <p:cSldViewPr snapToGrid="0">
      <p:cViewPr varScale="1">
        <p:scale>
          <a:sx n="83" d="100"/>
          <a:sy n="83" d="100"/>
        </p:scale>
        <p:origin x="435" y="5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39559F2-420B-F2E6-22C7-052CA391802D}"/>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zh-SG" altLang="en-US"/>
          </a:p>
        </p:txBody>
      </p:sp>
      <p:sp>
        <p:nvSpPr>
          <p:cNvPr id="3" name="副标题 2">
            <a:extLst>
              <a:ext uri="{FF2B5EF4-FFF2-40B4-BE49-F238E27FC236}">
                <a16:creationId xmlns:a16="http://schemas.microsoft.com/office/drawing/2014/main" id="{2BF81EDE-6CC3-0435-4CFA-692C156FDD0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zh-SG" altLang="en-US"/>
          </a:p>
        </p:txBody>
      </p:sp>
      <p:sp>
        <p:nvSpPr>
          <p:cNvPr id="4" name="日期占位符 3">
            <a:extLst>
              <a:ext uri="{FF2B5EF4-FFF2-40B4-BE49-F238E27FC236}">
                <a16:creationId xmlns:a16="http://schemas.microsoft.com/office/drawing/2014/main" id="{E8DB18F5-A93E-BD72-D614-43A68B24457A}"/>
              </a:ext>
            </a:extLst>
          </p:cNvPr>
          <p:cNvSpPr>
            <a:spLocks noGrp="1"/>
          </p:cNvSpPr>
          <p:nvPr>
            <p:ph type="dt" sz="half" idx="10"/>
          </p:nvPr>
        </p:nvSpPr>
        <p:spPr/>
        <p:txBody>
          <a:bodyPr/>
          <a:lstStyle/>
          <a:p>
            <a:fld id="{7E4D5863-6CF5-4B42-8221-8076D8564203}" type="datetimeFigureOut">
              <a:rPr lang="zh-SG" altLang="en-US" smtClean="0"/>
              <a:t>12/3/2026</a:t>
            </a:fld>
            <a:endParaRPr lang="zh-SG" altLang="en-US"/>
          </a:p>
        </p:txBody>
      </p:sp>
      <p:sp>
        <p:nvSpPr>
          <p:cNvPr id="5" name="页脚占位符 4">
            <a:extLst>
              <a:ext uri="{FF2B5EF4-FFF2-40B4-BE49-F238E27FC236}">
                <a16:creationId xmlns:a16="http://schemas.microsoft.com/office/drawing/2014/main" id="{895D901D-B0FD-2730-9F97-A5391EBAF3FA}"/>
              </a:ext>
            </a:extLst>
          </p:cNvPr>
          <p:cNvSpPr>
            <a:spLocks noGrp="1"/>
          </p:cNvSpPr>
          <p:nvPr>
            <p:ph type="ftr" sz="quarter" idx="11"/>
          </p:nvPr>
        </p:nvSpPr>
        <p:spPr/>
        <p:txBody>
          <a:bodyPr/>
          <a:lstStyle/>
          <a:p>
            <a:endParaRPr lang="zh-SG" altLang="en-US"/>
          </a:p>
        </p:txBody>
      </p:sp>
      <p:sp>
        <p:nvSpPr>
          <p:cNvPr id="6" name="灯片编号占位符 5">
            <a:extLst>
              <a:ext uri="{FF2B5EF4-FFF2-40B4-BE49-F238E27FC236}">
                <a16:creationId xmlns:a16="http://schemas.microsoft.com/office/drawing/2014/main" id="{831E14C9-1C9F-02B4-2F57-603CAAB73F5C}"/>
              </a:ext>
            </a:extLst>
          </p:cNvPr>
          <p:cNvSpPr>
            <a:spLocks noGrp="1"/>
          </p:cNvSpPr>
          <p:nvPr>
            <p:ph type="sldNum" sz="quarter" idx="12"/>
          </p:nvPr>
        </p:nvSpPr>
        <p:spPr/>
        <p:txBody>
          <a:bodyPr/>
          <a:lstStyle/>
          <a:p>
            <a:fld id="{66A21DF7-2650-400B-8FB9-C3797DEB47CC}" type="slidenum">
              <a:rPr lang="zh-SG" altLang="en-US" smtClean="0"/>
              <a:t>‹#›</a:t>
            </a:fld>
            <a:endParaRPr lang="zh-SG" altLang="en-US"/>
          </a:p>
        </p:txBody>
      </p:sp>
    </p:spTree>
    <p:extLst>
      <p:ext uri="{BB962C8B-B14F-4D97-AF65-F5344CB8AC3E}">
        <p14:creationId xmlns:p14="http://schemas.microsoft.com/office/powerpoint/2010/main" val="384685966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D368989-9510-1FC0-8AB0-B4FB1965A526}"/>
              </a:ext>
            </a:extLst>
          </p:cNvPr>
          <p:cNvSpPr>
            <a:spLocks noGrp="1"/>
          </p:cNvSpPr>
          <p:nvPr>
            <p:ph type="title"/>
          </p:nvPr>
        </p:nvSpPr>
        <p:spPr/>
        <p:txBody>
          <a:bodyPr/>
          <a:lstStyle/>
          <a:p>
            <a:r>
              <a:rPr lang="zh-CN" altLang="en-US"/>
              <a:t>单击此处编辑母版标题样式</a:t>
            </a:r>
            <a:endParaRPr lang="zh-SG" altLang="en-US"/>
          </a:p>
        </p:txBody>
      </p:sp>
      <p:sp>
        <p:nvSpPr>
          <p:cNvPr id="3" name="内容占位符 2">
            <a:extLst>
              <a:ext uri="{FF2B5EF4-FFF2-40B4-BE49-F238E27FC236}">
                <a16:creationId xmlns:a16="http://schemas.microsoft.com/office/drawing/2014/main" id="{1FCABF1D-8B22-0574-B2B6-1463970B084E}"/>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zh-SG" altLang="en-US"/>
          </a:p>
        </p:txBody>
      </p:sp>
      <p:sp>
        <p:nvSpPr>
          <p:cNvPr id="4" name="日期占位符 3">
            <a:extLst>
              <a:ext uri="{FF2B5EF4-FFF2-40B4-BE49-F238E27FC236}">
                <a16:creationId xmlns:a16="http://schemas.microsoft.com/office/drawing/2014/main" id="{37865618-1931-3B4A-3C12-D072EDB74DFF}"/>
              </a:ext>
            </a:extLst>
          </p:cNvPr>
          <p:cNvSpPr>
            <a:spLocks noGrp="1"/>
          </p:cNvSpPr>
          <p:nvPr>
            <p:ph type="dt" sz="half" idx="10"/>
          </p:nvPr>
        </p:nvSpPr>
        <p:spPr/>
        <p:txBody>
          <a:bodyPr/>
          <a:lstStyle/>
          <a:p>
            <a:fld id="{7E4D5863-6CF5-4B42-8221-8076D8564203}" type="datetimeFigureOut">
              <a:rPr lang="zh-SG" altLang="en-US" smtClean="0"/>
              <a:t>12/3/2026</a:t>
            </a:fld>
            <a:endParaRPr lang="zh-SG" altLang="en-US"/>
          </a:p>
        </p:txBody>
      </p:sp>
      <p:sp>
        <p:nvSpPr>
          <p:cNvPr id="5" name="页脚占位符 4">
            <a:extLst>
              <a:ext uri="{FF2B5EF4-FFF2-40B4-BE49-F238E27FC236}">
                <a16:creationId xmlns:a16="http://schemas.microsoft.com/office/drawing/2014/main" id="{BA8AC173-8182-AD0D-0D1C-3A6156A3F60F}"/>
              </a:ext>
            </a:extLst>
          </p:cNvPr>
          <p:cNvSpPr>
            <a:spLocks noGrp="1"/>
          </p:cNvSpPr>
          <p:nvPr>
            <p:ph type="ftr" sz="quarter" idx="11"/>
          </p:nvPr>
        </p:nvSpPr>
        <p:spPr/>
        <p:txBody>
          <a:bodyPr/>
          <a:lstStyle/>
          <a:p>
            <a:endParaRPr lang="zh-SG" altLang="en-US"/>
          </a:p>
        </p:txBody>
      </p:sp>
      <p:sp>
        <p:nvSpPr>
          <p:cNvPr id="6" name="灯片编号占位符 5">
            <a:extLst>
              <a:ext uri="{FF2B5EF4-FFF2-40B4-BE49-F238E27FC236}">
                <a16:creationId xmlns:a16="http://schemas.microsoft.com/office/drawing/2014/main" id="{E40417EB-743F-EA1D-8598-7A4B6D036286}"/>
              </a:ext>
            </a:extLst>
          </p:cNvPr>
          <p:cNvSpPr>
            <a:spLocks noGrp="1"/>
          </p:cNvSpPr>
          <p:nvPr>
            <p:ph type="sldNum" sz="quarter" idx="12"/>
          </p:nvPr>
        </p:nvSpPr>
        <p:spPr/>
        <p:txBody>
          <a:bodyPr/>
          <a:lstStyle/>
          <a:p>
            <a:fld id="{66A21DF7-2650-400B-8FB9-C3797DEB47CC}" type="slidenum">
              <a:rPr lang="zh-SG" altLang="en-US" smtClean="0"/>
              <a:t>‹#›</a:t>
            </a:fld>
            <a:endParaRPr lang="zh-SG" altLang="en-US"/>
          </a:p>
        </p:txBody>
      </p:sp>
    </p:spTree>
    <p:extLst>
      <p:ext uri="{BB962C8B-B14F-4D97-AF65-F5344CB8AC3E}">
        <p14:creationId xmlns:p14="http://schemas.microsoft.com/office/powerpoint/2010/main" val="305938545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FBEBB46-70E2-0F9E-2EF8-55D3DA566081}"/>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zh-SG" altLang="en-US"/>
          </a:p>
        </p:txBody>
      </p:sp>
      <p:sp>
        <p:nvSpPr>
          <p:cNvPr id="3" name="文本占位符 2">
            <a:extLst>
              <a:ext uri="{FF2B5EF4-FFF2-40B4-BE49-F238E27FC236}">
                <a16:creationId xmlns:a16="http://schemas.microsoft.com/office/drawing/2014/main" id="{9D0AB447-0A8D-BA5B-8F6C-C55127AC732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28A2C69D-6BF8-714A-DFC3-BB7BC57EEF87}"/>
              </a:ext>
            </a:extLst>
          </p:cNvPr>
          <p:cNvSpPr>
            <a:spLocks noGrp="1"/>
          </p:cNvSpPr>
          <p:nvPr>
            <p:ph type="dt" sz="half" idx="10"/>
          </p:nvPr>
        </p:nvSpPr>
        <p:spPr/>
        <p:txBody>
          <a:bodyPr/>
          <a:lstStyle/>
          <a:p>
            <a:fld id="{7E4D5863-6CF5-4B42-8221-8076D8564203}" type="datetimeFigureOut">
              <a:rPr lang="zh-SG" altLang="en-US" smtClean="0"/>
              <a:t>12/3/2026</a:t>
            </a:fld>
            <a:endParaRPr lang="zh-SG" altLang="en-US"/>
          </a:p>
        </p:txBody>
      </p:sp>
      <p:sp>
        <p:nvSpPr>
          <p:cNvPr id="5" name="页脚占位符 4">
            <a:extLst>
              <a:ext uri="{FF2B5EF4-FFF2-40B4-BE49-F238E27FC236}">
                <a16:creationId xmlns:a16="http://schemas.microsoft.com/office/drawing/2014/main" id="{DA86B791-3423-AC4A-6216-77D17F1584D7}"/>
              </a:ext>
            </a:extLst>
          </p:cNvPr>
          <p:cNvSpPr>
            <a:spLocks noGrp="1"/>
          </p:cNvSpPr>
          <p:nvPr>
            <p:ph type="ftr" sz="quarter" idx="11"/>
          </p:nvPr>
        </p:nvSpPr>
        <p:spPr/>
        <p:txBody>
          <a:bodyPr/>
          <a:lstStyle/>
          <a:p>
            <a:endParaRPr lang="zh-SG" altLang="en-US"/>
          </a:p>
        </p:txBody>
      </p:sp>
      <p:sp>
        <p:nvSpPr>
          <p:cNvPr id="6" name="灯片编号占位符 5">
            <a:extLst>
              <a:ext uri="{FF2B5EF4-FFF2-40B4-BE49-F238E27FC236}">
                <a16:creationId xmlns:a16="http://schemas.microsoft.com/office/drawing/2014/main" id="{3C64ACC8-B3EC-DC9B-C8A4-E839D1DF0687}"/>
              </a:ext>
            </a:extLst>
          </p:cNvPr>
          <p:cNvSpPr>
            <a:spLocks noGrp="1"/>
          </p:cNvSpPr>
          <p:nvPr>
            <p:ph type="sldNum" sz="quarter" idx="12"/>
          </p:nvPr>
        </p:nvSpPr>
        <p:spPr/>
        <p:txBody>
          <a:bodyPr/>
          <a:lstStyle/>
          <a:p>
            <a:fld id="{66A21DF7-2650-400B-8FB9-C3797DEB47CC}" type="slidenum">
              <a:rPr lang="zh-SG" altLang="en-US" smtClean="0"/>
              <a:t>‹#›</a:t>
            </a:fld>
            <a:endParaRPr lang="zh-SG" altLang="en-US"/>
          </a:p>
        </p:txBody>
      </p:sp>
    </p:spTree>
    <p:extLst>
      <p:ext uri="{BB962C8B-B14F-4D97-AF65-F5344CB8AC3E}">
        <p14:creationId xmlns:p14="http://schemas.microsoft.com/office/powerpoint/2010/main" val="37944477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2EAEEB0-8D86-2C28-FD99-702DF5EA6121}"/>
              </a:ext>
            </a:extLst>
          </p:cNvPr>
          <p:cNvSpPr>
            <a:spLocks noGrp="1"/>
          </p:cNvSpPr>
          <p:nvPr>
            <p:ph type="title"/>
          </p:nvPr>
        </p:nvSpPr>
        <p:spPr/>
        <p:txBody>
          <a:bodyPr/>
          <a:lstStyle/>
          <a:p>
            <a:r>
              <a:rPr lang="zh-CN" altLang="en-US"/>
              <a:t>单击此处编辑母版标题样式</a:t>
            </a:r>
            <a:endParaRPr lang="zh-SG" altLang="en-US"/>
          </a:p>
        </p:txBody>
      </p:sp>
      <p:sp>
        <p:nvSpPr>
          <p:cNvPr id="3" name="内容占位符 2">
            <a:extLst>
              <a:ext uri="{FF2B5EF4-FFF2-40B4-BE49-F238E27FC236}">
                <a16:creationId xmlns:a16="http://schemas.microsoft.com/office/drawing/2014/main" id="{1F404A73-FD6C-B0A5-EC14-D7A06319AE73}"/>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zh-SG" altLang="en-US"/>
          </a:p>
        </p:txBody>
      </p:sp>
      <p:sp>
        <p:nvSpPr>
          <p:cNvPr id="4" name="内容占位符 3">
            <a:extLst>
              <a:ext uri="{FF2B5EF4-FFF2-40B4-BE49-F238E27FC236}">
                <a16:creationId xmlns:a16="http://schemas.microsoft.com/office/drawing/2014/main" id="{8BE011A2-5859-7325-5CBB-AF00329D371C}"/>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zh-SG" altLang="en-US"/>
          </a:p>
        </p:txBody>
      </p:sp>
      <p:sp>
        <p:nvSpPr>
          <p:cNvPr id="5" name="日期占位符 4">
            <a:extLst>
              <a:ext uri="{FF2B5EF4-FFF2-40B4-BE49-F238E27FC236}">
                <a16:creationId xmlns:a16="http://schemas.microsoft.com/office/drawing/2014/main" id="{4F053420-D2B6-D7E0-AA4F-F8AAED8D14D1}"/>
              </a:ext>
            </a:extLst>
          </p:cNvPr>
          <p:cNvSpPr>
            <a:spLocks noGrp="1"/>
          </p:cNvSpPr>
          <p:nvPr>
            <p:ph type="dt" sz="half" idx="10"/>
          </p:nvPr>
        </p:nvSpPr>
        <p:spPr/>
        <p:txBody>
          <a:bodyPr/>
          <a:lstStyle/>
          <a:p>
            <a:fld id="{7E4D5863-6CF5-4B42-8221-8076D8564203}" type="datetimeFigureOut">
              <a:rPr lang="zh-SG" altLang="en-US" smtClean="0"/>
              <a:t>12/3/2026</a:t>
            </a:fld>
            <a:endParaRPr lang="zh-SG" altLang="en-US"/>
          </a:p>
        </p:txBody>
      </p:sp>
      <p:sp>
        <p:nvSpPr>
          <p:cNvPr id="6" name="页脚占位符 5">
            <a:extLst>
              <a:ext uri="{FF2B5EF4-FFF2-40B4-BE49-F238E27FC236}">
                <a16:creationId xmlns:a16="http://schemas.microsoft.com/office/drawing/2014/main" id="{0B653B8C-F3BF-594E-D136-1D7C3F246400}"/>
              </a:ext>
            </a:extLst>
          </p:cNvPr>
          <p:cNvSpPr>
            <a:spLocks noGrp="1"/>
          </p:cNvSpPr>
          <p:nvPr>
            <p:ph type="ftr" sz="quarter" idx="11"/>
          </p:nvPr>
        </p:nvSpPr>
        <p:spPr/>
        <p:txBody>
          <a:bodyPr/>
          <a:lstStyle/>
          <a:p>
            <a:endParaRPr lang="zh-SG" altLang="en-US"/>
          </a:p>
        </p:txBody>
      </p:sp>
      <p:sp>
        <p:nvSpPr>
          <p:cNvPr id="7" name="灯片编号占位符 6">
            <a:extLst>
              <a:ext uri="{FF2B5EF4-FFF2-40B4-BE49-F238E27FC236}">
                <a16:creationId xmlns:a16="http://schemas.microsoft.com/office/drawing/2014/main" id="{DA96C037-6986-8CE0-3A84-C0651B92CACA}"/>
              </a:ext>
            </a:extLst>
          </p:cNvPr>
          <p:cNvSpPr>
            <a:spLocks noGrp="1"/>
          </p:cNvSpPr>
          <p:nvPr>
            <p:ph type="sldNum" sz="quarter" idx="12"/>
          </p:nvPr>
        </p:nvSpPr>
        <p:spPr/>
        <p:txBody>
          <a:bodyPr/>
          <a:lstStyle/>
          <a:p>
            <a:fld id="{66A21DF7-2650-400B-8FB9-C3797DEB47CC}" type="slidenum">
              <a:rPr lang="zh-SG" altLang="en-US" smtClean="0"/>
              <a:t>‹#›</a:t>
            </a:fld>
            <a:endParaRPr lang="zh-SG" altLang="en-US"/>
          </a:p>
        </p:txBody>
      </p:sp>
    </p:spTree>
    <p:extLst>
      <p:ext uri="{BB962C8B-B14F-4D97-AF65-F5344CB8AC3E}">
        <p14:creationId xmlns:p14="http://schemas.microsoft.com/office/powerpoint/2010/main" val="357778606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C60AA84-B99D-522C-478D-83221E85D215}"/>
              </a:ext>
            </a:extLst>
          </p:cNvPr>
          <p:cNvSpPr>
            <a:spLocks noGrp="1"/>
          </p:cNvSpPr>
          <p:nvPr>
            <p:ph type="title"/>
          </p:nvPr>
        </p:nvSpPr>
        <p:spPr>
          <a:xfrm>
            <a:off x="839788" y="365125"/>
            <a:ext cx="10515600" cy="1325563"/>
          </a:xfrm>
        </p:spPr>
        <p:txBody>
          <a:bodyPr/>
          <a:lstStyle/>
          <a:p>
            <a:r>
              <a:rPr lang="zh-CN" altLang="en-US"/>
              <a:t>单击此处编辑母版标题样式</a:t>
            </a:r>
            <a:endParaRPr lang="zh-SG" altLang="en-US"/>
          </a:p>
        </p:txBody>
      </p:sp>
      <p:sp>
        <p:nvSpPr>
          <p:cNvPr id="3" name="文本占位符 2">
            <a:extLst>
              <a:ext uri="{FF2B5EF4-FFF2-40B4-BE49-F238E27FC236}">
                <a16:creationId xmlns:a16="http://schemas.microsoft.com/office/drawing/2014/main" id="{43141E5C-3E84-C998-FB9F-0C83E8A4F07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29A7F724-C8A0-F151-4D2F-81BF0C35E26F}"/>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zh-SG" altLang="en-US"/>
          </a:p>
        </p:txBody>
      </p:sp>
      <p:sp>
        <p:nvSpPr>
          <p:cNvPr id="5" name="文本占位符 4">
            <a:extLst>
              <a:ext uri="{FF2B5EF4-FFF2-40B4-BE49-F238E27FC236}">
                <a16:creationId xmlns:a16="http://schemas.microsoft.com/office/drawing/2014/main" id="{B003B95A-E1CB-2541-8B44-93208A0B1C9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DF105D28-49BD-6372-7FBC-2C85C22EE043}"/>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zh-SG" altLang="en-US"/>
          </a:p>
        </p:txBody>
      </p:sp>
      <p:sp>
        <p:nvSpPr>
          <p:cNvPr id="7" name="日期占位符 6">
            <a:extLst>
              <a:ext uri="{FF2B5EF4-FFF2-40B4-BE49-F238E27FC236}">
                <a16:creationId xmlns:a16="http://schemas.microsoft.com/office/drawing/2014/main" id="{BF55E6D5-04B7-E94D-6FBE-3438A7714B09}"/>
              </a:ext>
            </a:extLst>
          </p:cNvPr>
          <p:cNvSpPr>
            <a:spLocks noGrp="1"/>
          </p:cNvSpPr>
          <p:nvPr>
            <p:ph type="dt" sz="half" idx="10"/>
          </p:nvPr>
        </p:nvSpPr>
        <p:spPr/>
        <p:txBody>
          <a:bodyPr/>
          <a:lstStyle/>
          <a:p>
            <a:fld id="{7E4D5863-6CF5-4B42-8221-8076D8564203}" type="datetimeFigureOut">
              <a:rPr lang="zh-SG" altLang="en-US" smtClean="0"/>
              <a:t>12/3/2026</a:t>
            </a:fld>
            <a:endParaRPr lang="zh-SG" altLang="en-US"/>
          </a:p>
        </p:txBody>
      </p:sp>
      <p:sp>
        <p:nvSpPr>
          <p:cNvPr id="8" name="页脚占位符 7">
            <a:extLst>
              <a:ext uri="{FF2B5EF4-FFF2-40B4-BE49-F238E27FC236}">
                <a16:creationId xmlns:a16="http://schemas.microsoft.com/office/drawing/2014/main" id="{10B20F1B-1AF7-A77D-0B37-E931C54D4B7E}"/>
              </a:ext>
            </a:extLst>
          </p:cNvPr>
          <p:cNvSpPr>
            <a:spLocks noGrp="1"/>
          </p:cNvSpPr>
          <p:nvPr>
            <p:ph type="ftr" sz="quarter" idx="11"/>
          </p:nvPr>
        </p:nvSpPr>
        <p:spPr/>
        <p:txBody>
          <a:bodyPr/>
          <a:lstStyle/>
          <a:p>
            <a:endParaRPr lang="zh-SG" altLang="en-US"/>
          </a:p>
        </p:txBody>
      </p:sp>
      <p:sp>
        <p:nvSpPr>
          <p:cNvPr id="9" name="灯片编号占位符 8">
            <a:extLst>
              <a:ext uri="{FF2B5EF4-FFF2-40B4-BE49-F238E27FC236}">
                <a16:creationId xmlns:a16="http://schemas.microsoft.com/office/drawing/2014/main" id="{99359F0E-0489-F713-92BC-F09046FEDC03}"/>
              </a:ext>
            </a:extLst>
          </p:cNvPr>
          <p:cNvSpPr>
            <a:spLocks noGrp="1"/>
          </p:cNvSpPr>
          <p:nvPr>
            <p:ph type="sldNum" sz="quarter" idx="12"/>
          </p:nvPr>
        </p:nvSpPr>
        <p:spPr/>
        <p:txBody>
          <a:bodyPr/>
          <a:lstStyle/>
          <a:p>
            <a:fld id="{66A21DF7-2650-400B-8FB9-C3797DEB47CC}" type="slidenum">
              <a:rPr lang="zh-SG" altLang="en-US" smtClean="0"/>
              <a:t>‹#›</a:t>
            </a:fld>
            <a:endParaRPr lang="zh-SG" altLang="en-US"/>
          </a:p>
        </p:txBody>
      </p:sp>
    </p:spTree>
    <p:extLst>
      <p:ext uri="{BB962C8B-B14F-4D97-AF65-F5344CB8AC3E}">
        <p14:creationId xmlns:p14="http://schemas.microsoft.com/office/powerpoint/2010/main" val="272153507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8D6D667-813A-474B-F44A-6C514BBD7EB9}"/>
              </a:ext>
            </a:extLst>
          </p:cNvPr>
          <p:cNvSpPr>
            <a:spLocks noGrp="1"/>
          </p:cNvSpPr>
          <p:nvPr>
            <p:ph type="title"/>
          </p:nvPr>
        </p:nvSpPr>
        <p:spPr/>
        <p:txBody>
          <a:bodyPr/>
          <a:lstStyle/>
          <a:p>
            <a:r>
              <a:rPr lang="zh-CN" altLang="en-US"/>
              <a:t>单击此处编辑母版标题样式</a:t>
            </a:r>
            <a:endParaRPr lang="zh-SG" altLang="en-US"/>
          </a:p>
        </p:txBody>
      </p:sp>
      <p:sp>
        <p:nvSpPr>
          <p:cNvPr id="3" name="日期占位符 2">
            <a:extLst>
              <a:ext uri="{FF2B5EF4-FFF2-40B4-BE49-F238E27FC236}">
                <a16:creationId xmlns:a16="http://schemas.microsoft.com/office/drawing/2014/main" id="{4979C1E6-7F53-630C-7937-8C9A91467DEF}"/>
              </a:ext>
            </a:extLst>
          </p:cNvPr>
          <p:cNvSpPr>
            <a:spLocks noGrp="1"/>
          </p:cNvSpPr>
          <p:nvPr>
            <p:ph type="dt" sz="half" idx="10"/>
          </p:nvPr>
        </p:nvSpPr>
        <p:spPr/>
        <p:txBody>
          <a:bodyPr/>
          <a:lstStyle/>
          <a:p>
            <a:fld id="{7E4D5863-6CF5-4B42-8221-8076D8564203}" type="datetimeFigureOut">
              <a:rPr lang="zh-SG" altLang="en-US" smtClean="0"/>
              <a:t>12/3/2026</a:t>
            </a:fld>
            <a:endParaRPr lang="zh-SG" altLang="en-US"/>
          </a:p>
        </p:txBody>
      </p:sp>
      <p:sp>
        <p:nvSpPr>
          <p:cNvPr id="4" name="页脚占位符 3">
            <a:extLst>
              <a:ext uri="{FF2B5EF4-FFF2-40B4-BE49-F238E27FC236}">
                <a16:creationId xmlns:a16="http://schemas.microsoft.com/office/drawing/2014/main" id="{75C1BE57-3B4E-8B26-B5BB-661DC41D09CA}"/>
              </a:ext>
            </a:extLst>
          </p:cNvPr>
          <p:cNvSpPr>
            <a:spLocks noGrp="1"/>
          </p:cNvSpPr>
          <p:nvPr>
            <p:ph type="ftr" sz="quarter" idx="11"/>
          </p:nvPr>
        </p:nvSpPr>
        <p:spPr/>
        <p:txBody>
          <a:bodyPr/>
          <a:lstStyle/>
          <a:p>
            <a:endParaRPr lang="zh-SG" altLang="en-US"/>
          </a:p>
        </p:txBody>
      </p:sp>
      <p:sp>
        <p:nvSpPr>
          <p:cNvPr id="5" name="灯片编号占位符 4">
            <a:extLst>
              <a:ext uri="{FF2B5EF4-FFF2-40B4-BE49-F238E27FC236}">
                <a16:creationId xmlns:a16="http://schemas.microsoft.com/office/drawing/2014/main" id="{BAB242A1-87CC-683B-837E-31BB6313C873}"/>
              </a:ext>
            </a:extLst>
          </p:cNvPr>
          <p:cNvSpPr>
            <a:spLocks noGrp="1"/>
          </p:cNvSpPr>
          <p:nvPr>
            <p:ph type="sldNum" sz="quarter" idx="12"/>
          </p:nvPr>
        </p:nvSpPr>
        <p:spPr/>
        <p:txBody>
          <a:bodyPr/>
          <a:lstStyle/>
          <a:p>
            <a:fld id="{66A21DF7-2650-400B-8FB9-C3797DEB47CC}" type="slidenum">
              <a:rPr lang="zh-SG" altLang="en-US" smtClean="0"/>
              <a:t>‹#›</a:t>
            </a:fld>
            <a:endParaRPr lang="zh-SG" altLang="en-US"/>
          </a:p>
        </p:txBody>
      </p:sp>
    </p:spTree>
    <p:extLst>
      <p:ext uri="{BB962C8B-B14F-4D97-AF65-F5344CB8AC3E}">
        <p14:creationId xmlns:p14="http://schemas.microsoft.com/office/powerpoint/2010/main" val="284171581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66ED0D6E-C306-E6F9-1152-17B898253E86}"/>
              </a:ext>
            </a:extLst>
          </p:cNvPr>
          <p:cNvSpPr>
            <a:spLocks noGrp="1"/>
          </p:cNvSpPr>
          <p:nvPr>
            <p:ph type="dt" sz="half" idx="10"/>
          </p:nvPr>
        </p:nvSpPr>
        <p:spPr/>
        <p:txBody>
          <a:bodyPr/>
          <a:lstStyle/>
          <a:p>
            <a:fld id="{7E4D5863-6CF5-4B42-8221-8076D8564203}" type="datetimeFigureOut">
              <a:rPr lang="zh-SG" altLang="en-US" smtClean="0"/>
              <a:t>12/3/2026</a:t>
            </a:fld>
            <a:endParaRPr lang="zh-SG" altLang="en-US"/>
          </a:p>
        </p:txBody>
      </p:sp>
      <p:sp>
        <p:nvSpPr>
          <p:cNvPr id="3" name="页脚占位符 2">
            <a:extLst>
              <a:ext uri="{FF2B5EF4-FFF2-40B4-BE49-F238E27FC236}">
                <a16:creationId xmlns:a16="http://schemas.microsoft.com/office/drawing/2014/main" id="{CF423948-F2D3-9188-C93C-5EB38AA8B732}"/>
              </a:ext>
            </a:extLst>
          </p:cNvPr>
          <p:cNvSpPr>
            <a:spLocks noGrp="1"/>
          </p:cNvSpPr>
          <p:nvPr>
            <p:ph type="ftr" sz="quarter" idx="11"/>
          </p:nvPr>
        </p:nvSpPr>
        <p:spPr/>
        <p:txBody>
          <a:bodyPr/>
          <a:lstStyle/>
          <a:p>
            <a:endParaRPr lang="zh-SG" altLang="en-US"/>
          </a:p>
        </p:txBody>
      </p:sp>
      <p:sp>
        <p:nvSpPr>
          <p:cNvPr id="4" name="灯片编号占位符 3">
            <a:extLst>
              <a:ext uri="{FF2B5EF4-FFF2-40B4-BE49-F238E27FC236}">
                <a16:creationId xmlns:a16="http://schemas.microsoft.com/office/drawing/2014/main" id="{D2DCC24B-46E0-24DC-2078-39FA2B186345}"/>
              </a:ext>
            </a:extLst>
          </p:cNvPr>
          <p:cNvSpPr>
            <a:spLocks noGrp="1"/>
          </p:cNvSpPr>
          <p:nvPr>
            <p:ph type="sldNum" sz="quarter" idx="12"/>
          </p:nvPr>
        </p:nvSpPr>
        <p:spPr/>
        <p:txBody>
          <a:bodyPr/>
          <a:lstStyle/>
          <a:p>
            <a:fld id="{66A21DF7-2650-400B-8FB9-C3797DEB47CC}" type="slidenum">
              <a:rPr lang="zh-SG" altLang="en-US" smtClean="0"/>
              <a:t>‹#›</a:t>
            </a:fld>
            <a:endParaRPr lang="zh-SG" altLang="en-US"/>
          </a:p>
        </p:txBody>
      </p:sp>
    </p:spTree>
    <p:extLst>
      <p:ext uri="{BB962C8B-B14F-4D97-AF65-F5344CB8AC3E}">
        <p14:creationId xmlns:p14="http://schemas.microsoft.com/office/powerpoint/2010/main" val="94167125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BBE8723-7290-EDD4-F25B-720E3DE32949}"/>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SG" altLang="en-US"/>
          </a:p>
        </p:txBody>
      </p:sp>
      <p:sp>
        <p:nvSpPr>
          <p:cNvPr id="3" name="内容占位符 2">
            <a:extLst>
              <a:ext uri="{FF2B5EF4-FFF2-40B4-BE49-F238E27FC236}">
                <a16:creationId xmlns:a16="http://schemas.microsoft.com/office/drawing/2014/main" id="{840D1793-97FC-4E12-464E-B513FBF527D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zh-SG" altLang="en-US"/>
          </a:p>
        </p:txBody>
      </p:sp>
      <p:sp>
        <p:nvSpPr>
          <p:cNvPr id="4" name="文本占位符 3">
            <a:extLst>
              <a:ext uri="{FF2B5EF4-FFF2-40B4-BE49-F238E27FC236}">
                <a16:creationId xmlns:a16="http://schemas.microsoft.com/office/drawing/2014/main" id="{881B8438-0774-C9B6-FAE0-C0AAC09E9C9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D2150D27-2D29-6235-2159-88E86D04CBBE}"/>
              </a:ext>
            </a:extLst>
          </p:cNvPr>
          <p:cNvSpPr>
            <a:spLocks noGrp="1"/>
          </p:cNvSpPr>
          <p:nvPr>
            <p:ph type="dt" sz="half" idx="10"/>
          </p:nvPr>
        </p:nvSpPr>
        <p:spPr/>
        <p:txBody>
          <a:bodyPr/>
          <a:lstStyle/>
          <a:p>
            <a:fld id="{7E4D5863-6CF5-4B42-8221-8076D8564203}" type="datetimeFigureOut">
              <a:rPr lang="zh-SG" altLang="en-US" smtClean="0"/>
              <a:t>12/3/2026</a:t>
            </a:fld>
            <a:endParaRPr lang="zh-SG" altLang="en-US"/>
          </a:p>
        </p:txBody>
      </p:sp>
      <p:sp>
        <p:nvSpPr>
          <p:cNvPr id="6" name="页脚占位符 5">
            <a:extLst>
              <a:ext uri="{FF2B5EF4-FFF2-40B4-BE49-F238E27FC236}">
                <a16:creationId xmlns:a16="http://schemas.microsoft.com/office/drawing/2014/main" id="{E33D29F9-C179-45F9-ACF1-968D8DF45CD2}"/>
              </a:ext>
            </a:extLst>
          </p:cNvPr>
          <p:cNvSpPr>
            <a:spLocks noGrp="1"/>
          </p:cNvSpPr>
          <p:nvPr>
            <p:ph type="ftr" sz="quarter" idx="11"/>
          </p:nvPr>
        </p:nvSpPr>
        <p:spPr/>
        <p:txBody>
          <a:bodyPr/>
          <a:lstStyle/>
          <a:p>
            <a:endParaRPr lang="zh-SG" altLang="en-US"/>
          </a:p>
        </p:txBody>
      </p:sp>
      <p:sp>
        <p:nvSpPr>
          <p:cNvPr id="7" name="灯片编号占位符 6">
            <a:extLst>
              <a:ext uri="{FF2B5EF4-FFF2-40B4-BE49-F238E27FC236}">
                <a16:creationId xmlns:a16="http://schemas.microsoft.com/office/drawing/2014/main" id="{B5926490-A084-6609-9A9A-1151B0A0E3EE}"/>
              </a:ext>
            </a:extLst>
          </p:cNvPr>
          <p:cNvSpPr>
            <a:spLocks noGrp="1"/>
          </p:cNvSpPr>
          <p:nvPr>
            <p:ph type="sldNum" sz="quarter" idx="12"/>
          </p:nvPr>
        </p:nvSpPr>
        <p:spPr/>
        <p:txBody>
          <a:bodyPr/>
          <a:lstStyle/>
          <a:p>
            <a:fld id="{66A21DF7-2650-400B-8FB9-C3797DEB47CC}" type="slidenum">
              <a:rPr lang="zh-SG" altLang="en-US" smtClean="0"/>
              <a:t>‹#›</a:t>
            </a:fld>
            <a:endParaRPr lang="zh-SG" altLang="en-US"/>
          </a:p>
        </p:txBody>
      </p:sp>
    </p:spTree>
    <p:extLst>
      <p:ext uri="{BB962C8B-B14F-4D97-AF65-F5344CB8AC3E}">
        <p14:creationId xmlns:p14="http://schemas.microsoft.com/office/powerpoint/2010/main" val="112416408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23CE67D-C48A-1EA8-8B3D-FD40B10CA72D}"/>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SG" altLang="en-US"/>
          </a:p>
        </p:txBody>
      </p:sp>
      <p:sp>
        <p:nvSpPr>
          <p:cNvPr id="3" name="图片占位符 2">
            <a:extLst>
              <a:ext uri="{FF2B5EF4-FFF2-40B4-BE49-F238E27FC236}">
                <a16:creationId xmlns:a16="http://schemas.microsoft.com/office/drawing/2014/main" id="{E2DA089F-E96C-902D-E6EC-60DC35297D0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SG" altLang="en-US"/>
          </a:p>
        </p:txBody>
      </p:sp>
      <p:sp>
        <p:nvSpPr>
          <p:cNvPr id="4" name="文本占位符 3">
            <a:extLst>
              <a:ext uri="{FF2B5EF4-FFF2-40B4-BE49-F238E27FC236}">
                <a16:creationId xmlns:a16="http://schemas.microsoft.com/office/drawing/2014/main" id="{FE57375E-270C-BD98-33D9-3406A569F77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7891ADD7-40E3-24B9-CEA7-B3828060BBE4}"/>
              </a:ext>
            </a:extLst>
          </p:cNvPr>
          <p:cNvSpPr>
            <a:spLocks noGrp="1"/>
          </p:cNvSpPr>
          <p:nvPr>
            <p:ph type="dt" sz="half" idx="10"/>
          </p:nvPr>
        </p:nvSpPr>
        <p:spPr/>
        <p:txBody>
          <a:bodyPr/>
          <a:lstStyle/>
          <a:p>
            <a:fld id="{7E4D5863-6CF5-4B42-8221-8076D8564203}" type="datetimeFigureOut">
              <a:rPr lang="zh-SG" altLang="en-US" smtClean="0"/>
              <a:t>12/3/2026</a:t>
            </a:fld>
            <a:endParaRPr lang="zh-SG" altLang="en-US"/>
          </a:p>
        </p:txBody>
      </p:sp>
      <p:sp>
        <p:nvSpPr>
          <p:cNvPr id="6" name="页脚占位符 5">
            <a:extLst>
              <a:ext uri="{FF2B5EF4-FFF2-40B4-BE49-F238E27FC236}">
                <a16:creationId xmlns:a16="http://schemas.microsoft.com/office/drawing/2014/main" id="{A7AB6026-E913-1781-17A5-EC60AF0DDA47}"/>
              </a:ext>
            </a:extLst>
          </p:cNvPr>
          <p:cNvSpPr>
            <a:spLocks noGrp="1"/>
          </p:cNvSpPr>
          <p:nvPr>
            <p:ph type="ftr" sz="quarter" idx="11"/>
          </p:nvPr>
        </p:nvSpPr>
        <p:spPr/>
        <p:txBody>
          <a:bodyPr/>
          <a:lstStyle/>
          <a:p>
            <a:endParaRPr lang="zh-SG" altLang="en-US"/>
          </a:p>
        </p:txBody>
      </p:sp>
      <p:sp>
        <p:nvSpPr>
          <p:cNvPr id="7" name="灯片编号占位符 6">
            <a:extLst>
              <a:ext uri="{FF2B5EF4-FFF2-40B4-BE49-F238E27FC236}">
                <a16:creationId xmlns:a16="http://schemas.microsoft.com/office/drawing/2014/main" id="{279E76BC-D326-D0E6-DA72-90BE94091660}"/>
              </a:ext>
            </a:extLst>
          </p:cNvPr>
          <p:cNvSpPr>
            <a:spLocks noGrp="1"/>
          </p:cNvSpPr>
          <p:nvPr>
            <p:ph type="sldNum" sz="quarter" idx="12"/>
          </p:nvPr>
        </p:nvSpPr>
        <p:spPr/>
        <p:txBody>
          <a:bodyPr/>
          <a:lstStyle/>
          <a:p>
            <a:fld id="{66A21DF7-2650-400B-8FB9-C3797DEB47CC}" type="slidenum">
              <a:rPr lang="zh-SG" altLang="en-US" smtClean="0"/>
              <a:t>‹#›</a:t>
            </a:fld>
            <a:endParaRPr lang="zh-SG" altLang="en-US"/>
          </a:p>
        </p:txBody>
      </p:sp>
    </p:spTree>
    <p:extLst>
      <p:ext uri="{BB962C8B-B14F-4D97-AF65-F5344CB8AC3E}">
        <p14:creationId xmlns:p14="http://schemas.microsoft.com/office/powerpoint/2010/main" val="365876213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22BB9AC-7AFB-0DC8-43CF-94443390FC9C}"/>
              </a:ext>
            </a:extLst>
          </p:cNvPr>
          <p:cNvSpPr>
            <a:spLocks noGrp="1"/>
          </p:cNvSpPr>
          <p:nvPr>
            <p:ph type="title"/>
          </p:nvPr>
        </p:nvSpPr>
        <p:spPr/>
        <p:txBody>
          <a:bodyPr/>
          <a:lstStyle/>
          <a:p>
            <a:r>
              <a:rPr lang="zh-CN" altLang="en-US"/>
              <a:t>单击此处编辑母版标题样式</a:t>
            </a:r>
            <a:endParaRPr lang="zh-SG" altLang="en-US"/>
          </a:p>
        </p:txBody>
      </p:sp>
      <p:sp>
        <p:nvSpPr>
          <p:cNvPr id="3" name="竖排文字占位符 2">
            <a:extLst>
              <a:ext uri="{FF2B5EF4-FFF2-40B4-BE49-F238E27FC236}">
                <a16:creationId xmlns:a16="http://schemas.microsoft.com/office/drawing/2014/main" id="{41AA66E4-C68D-BB07-50D8-0AB4961F4610}"/>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zh-SG" altLang="en-US"/>
          </a:p>
        </p:txBody>
      </p:sp>
      <p:sp>
        <p:nvSpPr>
          <p:cNvPr id="4" name="日期占位符 3">
            <a:extLst>
              <a:ext uri="{FF2B5EF4-FFF2-40B4-BE49-F238E27FC236}">
                <a16:creationId xmlns:a16="http://schemas.microsoft.com/office/drawing/2014/main" id="{6DB55EF4-EEA5-E6ED-5DC5-61BEF1612290}"/>
              </a:ext>
            </a:extLst>
          </p:cNvPr>
          <p:cNvSpPr>
            <a:spLocks noGrp="1"/>
          </p:cNvSpPr>
          <p:nvPr>
            <p:ph type="dt" sz="half" idx="10"/>
          </p:nvPr>
        </p:nvSpPr>
        <p:spPr/>
        <p:txBody>
          <a:bodyPr/>
          <a:lstStyle/>
          <a:p>
            <a:fld id="{7E4D5863-6CF5-4B42-8221-8076D8564203}" type="datetimeFigureOut">
              <a:rPr lang="zh-SG" altLang="en-US" smtClean="0"/>
              <a:t>12/3/2026</a:t>
            </a:fld>
            <a:endParaRPr lang="zh-SG" altLang="en-US"/>
          </a:p>
        </p:txBody>
      </p:sp>
      <p:sp>
        <p:nvSpPr>
          <p:cNvPr id="5" name="页脚占位符 4">
            <a:extLst>
              <a:ext uri="{FF2B5EF4-FFF2-40B4-BE49-F238E27FC236}">
                <a16:creationId xmlns:a16="http://schemas.microsoft.com/office/drawing/2014/main" id="{55628042-435E-C066-F354-52628811647D}"/>
              </a:ext>
            </a:extLst>
          </p:cNvPr>
          <p:cNvSpPr>
            <a:spLocks noGrp="1"/>
          </p:cNvSpPr>
          <p:nvPr>
            <p:ph type="ftr" sz="quarter" idx="11"/>
          </p:nvPr>
        </p:nvSpPr>
        <p:spPr/>
        <p:txBody>
          <a:bodyPr/>
          <a:lstStyle/>
          <a:p>
            <a:endParaRPr lang="zh-SG" altLang="en-US"/>
          </a:p>
        </p:txBody>
      </p:sp>
      <p:sp>
        <p:nvSpPr>
          <p:cNvPr id="6" name="灯片编号占位符 5">
            <a:extLst>
              <a:ext uri="{FF2B5EF4-FFF2-40B4-BE49-F238E27FC236}">
                <a16:creationId xmlns:a16="http://schemas.microsoft.com/office/drawing/2014/main" id="{F0825817-0BE6-B2FD-6F5C-916608C7E82D}"/>
              </a:ext>
            </a:extLst>
          </p:cNvPr>
          <p:cNvSpPr>
            <a:spLocks noGrp="1"/>
          </p:cNvSpPr>
          <p:nvPr>
            <p:ph type="sldNum" sz="quarter" idx="12"/>
          </p:nvPr>
        </p:nvSpPr>
        <p:spPr/>
        <p:txBody>
          <a:bodyPr/>
          <a:lstStyle/>
          <a:p>
            <a:fld id="{66A21DF7-2650-400B-8FB9-C3797DEB47CC}" type="slidenum">
              <a:rPr lang="zh-SG" altLang="en-US" smtClean="0"/>
              <a:t>‹#›</a:t>
            </a:fld>
            <a:endParaRPr lang="zh-SG" altLang="en-US"/>
          </a:p>
        </p:txBody>
      </p:sp>
    </p:spTree>
    <p:extLst>
      <p:ext uri="{BB962C8B-B14F-4D97-AF65-F5344CB8AC3E}">
        <p14:creationId xmlns:p14="http://schemas.microsoft.com/office/powerpoint/2010/main" val="415282491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5325AA69-5131-814C-5AD1-E5635AE132CF}"/>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zh-SG" altLang="en-US"/>
          </a:p>
        </p:txBody>
      </p:sp>
      <p:sp>
        <p:nvSpPr>
          <p:cNvPr id="3" name="竖排文字占位符 2">
            <a:extLst>
              <a:ext uri="{FF2B5EF4-FFF2-40B4-BE49-F238E27FC236}">
                <a16:creationId xmlns:a16="http://schemas.microsoft.com/office/drawing/2014/main" id="{FE8B6CB6-AA9D-8AB5-ACB4-EAC8A53F05F8}"/>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zh-SG" altLang="en-US"/>
          </a:p>
        </p:txBody>
      </p:sp>
      <p:sp>
        <p:nvSpPr>
          <p:cNvPr id="4" name="日期占位符 3">
            <a:extLst>
              <a:ext uri="{FF2B5EF4-FFF2-40B4-BE49-F238E27FC236}">
                <a16:creationId xmlns:a16="http://schemas.microsoft.com/office/drawing/2014/main" id="{5614D9BE-9C9D-60B0-BA07-A3D0A1ABBC0A}"/>
              </a:ext>
            </a:extLst>
          </p:cNvPr>
          <p:cNvSpPr>
            <a:spLocks noGrp="1"/>
          </p:cNvSpPr>
          <p:nvPr>
            <p:ph type="dt" sz="half" idx="10"/>
          </p:nvPr>
        </p:nvSpPr>
        <p:spPr/>
        <p:txBody>
          <a:bodyPr/>
          <a:lstStyle/>
          <a:p>
            <a:fld id="{7E4D5863-6CF5-4B42-8221-8076D8564203}" type="datetimeFigureOut">
              <a:rPr lang="zh-SG" altLang="en-US" smtClean="0"/>
              <a:t>12/3/2026</a:t>
            </a:fld>
            <a:endParaRPr lang="zh-SG" altLang="en-US"/>
          </a:p>
        </p:txBody>
      </p:sp>
      <p:sp>
        <p:nvSpPr>
          <p:cNvPr id="5" name="页脚占位符 4">
            <a:extLst>
              <a:ext uri="{FF2B5EF4-FFF2-40B4-BE49-F238E27FC236}">
                <a16:creationId xmlns:a16="http://schemas.microsoft.com/office/drawing/2014/main" id="{CD0658DD-2532-F39F-E843-0D18D679DDC1}"/>
              </a:ext>
            </a:extLst>
          </p:cNvPr>
          <p:cNvSpPr>
            <a:spLocks noGrp="1"/>
          </p:cNvSpPr>
          <p:nvPr>
            <p:ph type="ftr" sz="quarter" idx="11"/>
          </p:nvPr>
        </p:nvSpPr>
        <p:spPr/>
        <p:txBody>
          <a:bodyPr/>
          <a:lstStyle/>
          <a:p>
            <a:endParaRPr lang="zh-SG" altLang="en-US"/>
          </a:p>
        </p:txBody>
      </p:sp>
      <p:sp>
        <p:nvSpPr>
          <p:cNvPr id="6" name="灯片编号占位符 5">
            <a:extLst>
              <a:ext uri="{FF2B5EF4-FFF2-40B4-BE49-F238E27FC236}">
                <a16:creationId xmlns:a16="http://schemas.microsoft.com/office/drawing/2014/main" id="{123DDD8E-75AA-FBEB-E1F7-1682C8926009}"/>
              </a:ext>
            </a:extLst>
          </p:cNvPr>
          <p:cNvSpPr>
            <a:spLocks noGrp="1"/>
          </p:cNvSpPr>
          <p:nvPr>
            <p:ph type="sldNum" sz="quarter" idx="12"/>
          </p:nvPr>
        </p:nvSpPr>
        <p:spPr/>
        <p:txBody>
          <a:bodyPr/>
          <a:lstStyle/>
          <a:p>
            <a:fld id="{66A21DF7-2650-400B-8FB9-C3797DEB47CC}" type="slidenum">
              <a:rPr lang="zh-SG" altLang="en-US" smtClean="0"/>
              <a:t>‹#›</a:t>
            </a:fld>
            <a:endParaRPr lang="zh-SG" altLang="en-US"/>
          </a:p>
        </p:txBody>
      </p:sp>
    </p:spTree>
    <p:extLst>
      <p:ext uri="{BB962C8B-B14F-4D97-AF65-F5344CB8AC3E}">
        <p14:creationId xmlns:p14="http://schemas.microsoft.com/office/powerpoint/2010/main" val="299671007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4BE5BC71-970A-480E-DB8A-58767B28399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zh-SG" altLang="en-US"/>
          </a:p>
        </p:txBody>
      </p:sp>
      <p:sp>
        <p:nvSpPr>
          <p:cNvPr id="3" name="文本占位符 2">
            <a:extLst>
              <a:ext uri="{FF2B5EF4-FFF2-40B4-BE49-F238E27FC236}">
                <a16:creationId xmlns:a16="http://schemas.microsoft.com/office/drawing/2014/main" id="{E7204E90-540B-4B55-6F9E-4454BE86D43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zh-SG" altLang="en-US"/>
          </a:p>
        </p:txBody>
      </p:sp>
      <p:sp>
        <p:nvSpPr>
          <p:cNvPr id="4" name="日期占位符 3">
            <a:extLst>
              <a:ext uri="{FF2B5EF4-FFF2-40B4-BE49-F238E27FC236}">
                <a16:creationId xmlns:a16="http://schemas.microsoft.com/office/drawing/2014/main" id="{2E19DBD1-7F8A-87BE-74D3-72733D8D33C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E4D5863-6CF5-4B42-8221-8076D8564203}" type="datetimeFigureOut">
              <a:rPr lang="zh-SG" altLang="en-US" smtClean="0"/>
              <a:t>12/3/2026</a:t>
            </a:fld>
            <a:endParaRPr lang="zh-SG" altLang="en-US"/>
          </a:p>
        </p:txBody>
      </p:sp>
      <p:sp>
        <p:nvSpPr>
          <p:cNvPr id="5" name="页脚占位符 4">
            <a:extLst>
              <a:ext uri="{FF2B5EF4-FFF2-40B4-BE49-F238E27FC236}">
                <a16:creationId xmlns:a16="http://schemas.microsoft.com/office/drawing/2014/main" id="{FC7BE4A8-366D-DA96-7DB7-4E175B39A74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SG" altLang="en-US"/>
          </a:p>
        </p:txBody>
      </p:sp>
      <p:sp>
        <p:nvSpPr>
          <p:cNvPr id="6" name="灯片编号占位符 5">
            <a:extLst>
              <a:ext uri="{FF2B5EF4-FFF2-40B4-BE49-F238E27FC236}">
                <a16:creationId xmlns:a16="http://schemas.microsoft.com/office/drawing/2014/main" id="{621CBD9D-8449-6553-6256-10788BB0C8D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6A21DF7-2650-400B-8FB9-C3797DEB47CC}" type="slidenum">
              <a:rPr lang="zh-SG" altLang="en-US" smtClean="0"/>
              <a:t>‹#›</a:t>
            </a:fld>
            <a:endParaRPr lang="zh-SG" altLang="en-US"/>
          </a:p>
        </p:txBody>
      </p:sp>
    </p:spTree>
    <p:extLst>
      <p:ext uri="{BB962C8B-B14F-4D97-AF65-F5344CB8AC3E}">
        <p14:creationId xmlns:p14="http://schemas.microsoft.com/office/powerpoint/2010/main" val="167782658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SG"/>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5C7D5954-0667-FF4D-9FCE-E00D877C65D0}"/>
              </a:ext>
            </a:extLst>
          </p:cNvPr>
          <p:cNvSpPr txBox="1"/>
          <p:nvPr/>
        </p:nvSpPr>
        <p:spPr>
          <a:xfrm>
            <a:off x="277091" y="263297"/>
            <a:ext cx="6096000" cy="369332"/>
          </a:xfrm>
          <a:prstGeom prst="rect">
            <a:avLst/>
          </a:prstGeom>
          <a:noFill/>
        </p:spPr>
        <p:txBody>
          <a:bodyPr wrap="square">
            <a:spAutoFit/>
          </a:bodyPr>
          <a:lstStyle/>
          <a:p>
            <a:r>
              <a:rPr lang="en-US" altLang="zh-SG" dirty="0"/>
              <a:t>Part 1 — Meter Onboarding &amp; Reading Capture</a:t>
            </a:r>
            <a:endParaRPr lang="zh-SG" altLang="en-US" dirty="0"/>
          </a:p>
        </p:txBody>
      </p:sp>
      <p:sp>
        <p:nvSpPr>
          <p:cNvPr id="10" name="文本框 9">
            <a:extLst>
              <a:ext uri="{FF2B5EF4-FFF2-40B4-BE49-F238E27FC236}">
                <a16:creationId xmlns:a16="http://schemas.microsoft.com/office/drawing/2014/main" id="{AE5B4D5B-31F4-3A56-137E-2CE20EDCDDA3}"/>
              </a:ext>
            </a:extLst>
          </p:cNvPr>
          <p:cNvSpPr txBox="1"/>
          <p:nvPr/>
        </p:nvSpPr>
        <p:spPr>
          <a:xfrm>
            <a:off x="277091" y="2101487"/>
            <a:ext cx="4285673" cy="369332"/>
          </a:xfrm>
          <a:prstGeom prst="rect">
            <a:avLst/>
          </a:prstGeom>
          <a:noFill/>
          <a:ln>
            <a:solidFill>
              <a:schemeClr val="tx1"/>
            </a:solidFill>
          </a:ln>
        </p:spPr>
        <p:txBody>
          <a:bodyPr wrap="square">
            <a:spAutoFit/>
          </a:bodyPr>
          <a:lstStyle/>
          <a:p>
            <a:r>
              <a:rPr lang="en-US" altLang="zh-SG" dirty="0"/>
              <a:t>Data Point according to project requirement</a:t>
            </a:r>
            <a:endParaRPr lang="zh-SG" altLang="en-US" dirty="0"/>
          </a:p>
        </p:txBody>
      </p:sp>
      <p:sp>
        <p:nvSpPr>
          <p:cNvPr id="14" name="文本框 13">
            <a:extLst>
              <a:ext uri="{FF2B5EF4-FFF2-40B4-BE49-F238E27FC236}">
                <a16:creationId xmlns:a16="http://schemas.microsoft.com/office/drawing/2014/main" id="{1E883081-A7A4-C05F-A8ED-3DD3F0A7DF0C}"/>
              </a:ext>
            </a:extLst>
          </p:cNvPr>
          <p:cNvSpPr txBox="1"/>
          <p:nvPr/>
        </p:nvSpPr>
        <p:spPr>
          <a:xfrm>
            <a:off x="277091" y="801269"/>
            <a:ext cx="3740727" cy="1046440"/>
          </a:xfrm>
          <a:prstGeom prst="rect">
            <a:avLst/>
          </a:prstGeom>
          <a:noFill/>
          <a:ln>
            <a:solidFill>
              <a:schemeClr val="tx1"/>
            </a:solidFill>
          </a:ln>
        </p:spPr>
        <p:txBody>
          <a:bodyPr wrap="square">
            <a:spAutoFit/>
          </a:bodyPr>
          <a:lstStyle/>
          <a:p>
            <a:r>
              <a:rPr lang="en-US" altLang="zh-SG" dirty="0"/>
              <a:t>Supported Communication Protocols</a:t>
            </a:r>
          </a:p>
          <a:p>
            <a:pPr marL="171450" indent="-171450">
              <a:buFont typeface="Arial" panose="020B0604020202020204" pitchFamily="34" charset="0"/>
              <a:buChar char="•"/>
            </a:pPr>
            <a:r>
              <a:rPr lang="en-US" altLang="zh-CN" sz="1100" dirty="0"/>
              <a:t>MQTT</a:t>
            </a:r>
          </a:p>
          <a:p>
            <a:pPr marL="171450" indent="-171450">
              <a:buFont typeface="Arial" panose="020B0604020202020204" pitchFamily="34" charset="0"/>
              <a:buChar char="•"/>
            </a:pPr>
            <a:r>
              <a:rPr lang="en-US" altLang="zh-CN" sz="1100" dirty="0"/>
              <a:t>Zigbee</a:t>
            </a:r>
          </a:p>
          <a:p>
            <a:pPr marL="171450" indent="-171450">
              <a:buFont typeface="Arial" panose="020B0604020202020204" pitchFamily="34" charset="0"/>
              <a:buChar char="•"/>
            </a:pPr>
            <a:r>
              <a:rPr lang="en-US" altLang="zh-CN" sz="1100" dirty="0"/>
              <a:t>Modbus</a:t>
            </a:r>
          </a:p>
          <a:p>
            <a:pPr marL="171450" indent="-171450">
              <a:buFont typeface="Arial" panose="020B0604020202020204" pitchFamily="34" charset="0"/>
              <a:buChar char="•"/>
            </a:pPr>
            <a:r>
              <a:rPr lang="en-US" altLang="zh-CN" sz="1100" dirty="0"/>
              <a:t>BACnet</a:t>
            </a:r>
            <a:endParaRPr lang="en-US" altLang="zh-CN" dirty="0"/>
          </a:p>
        </p:txBody>
      </p:sp>
      <p:sp>
        <p:nvSpPr>
          <p:cNvPr id="16" name="文本框 15">
            <a:extLst>
              <a:ext uri="{FF2B5EF4-FFF2-40B4-BE49-F238E27FC236}">
                <a16:creationId xmlns:a16="http://schemas.microsoft.com/office/drawing/2014/main" id="{3FC2554F-5E96-645A-736A-F7004E723039}"/>
              </a:ext>
            </a:extLst>
          </p:cNvPr>
          <p:cNvSpPr txBox="1"/>
          <p:nvPr/>
        </p:nvSpPr>
        <p:spPr>
          <a:xfrm>
            <a:off x="277091" y="2808099"/>
            <a:ext cx="3611418" cy="984885"/>
          </a:xfrm>
          <a:prstGeom prst="rect">
            <a:avLst/>
          </a:prstGeom>
          <a:noFill/>
          <a:ln>
            <a:solidFill>
              <a:schemeClr val="tx1"/>
            </a:solidFill>
          </a:ln>
        </p:spPr>
        <p:txBody>
          <a:bodyPr wrap="square">
            <a:spAutoFit/>
          </a:bodyPr>
          <a:lstStyle/>
          <a:p>
            <a:r>
              <a:rPr lang="en-US" altLang="zh-SG" dirty="0"/>
              <a:t>Local Data Storage</a:t>
            </a:r>
          </a:p>
          <a:p>
            <a:pPr marL="171450" indent="-171450">
              <a:buFont typeface="Arial" panose="020B0604020202020204" pitchFamily="34" charset="0"/>
              <a:buChar char="•"/>
            </a:pPr>
            <a:r>
              <a:rPr lang="en-US" altLang="zh-SG" sz="1100" dirty="0"/>
              <a:t>Edge gateway shall store minimum one month of data</a:t>
            </a:r>
          </a:p>
          <a:p>
            <a:r>
              <a:rPr lang="en-US" altLang="zh-SG" dirty="0"/>
              <a:t>Data </a:t>
            </a:r>
            <a:r>
              <a:rPr lang="en-US" altLang="zh-SG" dirty="0" err="1"/>
              <a:t>Synchronisation</a:t>
            </a:r>
            <a:endParaRPr lang="en-US" altLang="zh-SG" dirty="0"/>
          </a:p>
          <a:p>
            <a:pPr marL="171450" indent="-171450">
              <a:buFont typeface="Arial" panose="020B0604020202020204" pitchFamily="34" charset="0"/>
              <a:buChar char="•"/>
            </a:pPr>
            <a:r>
              <a:rPr lang="en-US" altLang="zh-SG" sz="1100" dirty="0"/>
              <a:t>Data shall be automatically </a:t>
            </a:r>
            <a:r>
              <a:rPr lang="en-US" altLang="zh-SG" sz="1100" dirty="0" err="1"/>
              <a:t>synchronised</a:t>
            </a:r>
            <a:r>
              <a:rPr lang="en-US" altLang="zh-SG" sz="1100" dirty="0"/>
              <a:t> after recovery</a:t>
            </a:r>
            <a:endParaRPr lang="zh-SG" altLang="en-US" sz="1100" dirty="0"/>
          </a:p>
        </p:txBody>
      </p:sp>
      <p:sp>
        <p:nvSpPr>
          <p:cNvPr id="20" name="文本框 19">
            <a:extLst>
              <a:ext uri="{FF2B5EF4-FFF2-40B4-BE49-F238E27FC236}">
                <a16:creationId xmlns:a16="http://schemas.microsoft.com/office/drawing/2014/main" id="{CE81CB69-06D1-5664-D492-BFA2F1C8616E}"/>
              </a:ext>
            </a:extLst>
          </p:cNvPr>
          <p:cNvSpPr txBox="1"/>
          <p:nvPr/>
        </p:nvSpPr>
        <p:spPr>
          <a:xfrm>
            <a:off x="277090" y="4017850"/>
            <a:ext cx="2669309" cy="1046440"/>
          </a:xfrm>
          <a:prstGeom prst="rect">
            <a:avLst/>
          </a:prstGeom>
          <a:noFill/>
          <a:ln>
            <a:solidFill>
              <a:schemeClr val="tx1"/>
            </a:solidFill>
          </a:ln>
        </p:spPr>
        <p:txBody>
          <a:bodyPr wrap="square">
            <a:spAutoFit/>
          </a:bodyPr>
          <a:lstStyle/>
          <a:p>
            <a:r>
              <a:rPr lang="en-US" altLang="zh-SG" dirty="0"/>
              <a:t>Virtual Meter</a:t>
            </a:r>
          </a:p>
          <a:p>
            <a:r>
              <a:rPr lang="en-US" altLang="zh-SG" sz="1100" dirty="0"/>
              <a:t>Use Cases</a:t>
            </a:r>
          </a:p>
          <a:p>
            <a:pPr marL="171450" indent="-171450">
              <a:buFont typeface="Arial" panose="020B0604020202020204" pitchFamily="34" charset="0"/>
              <a:buChar char="•"/>
            </a:pPr>
            <a:r>
              <a:rPr lang="en-US" altLang="zh-SG" sz="1100" dirty="0"/>
              <a:t>Total Energy Consumption per Floor</a:t>
            </a:r>
          </a:p>
          <a:p>
            <a:pPr marL="171450" indent="-171450">
              <a:buFont typeface="Arial" panose="020B0604020202020204" pitchFamily="34" charset="0"/>
              <a:buChar char="•"/>
            </a:pPr>
            <a:r>
              <a:rPr lang="en-US" altLang="zh-SG" sz="1100" dirty="0"/>
              <a:t>Total Energy Consumption per Building</a:t>
            </a:r>
          </a:p>
          <a:p>
            <a:pPr marL="171450" indent="-171450">
              <a:buFont typeface="Arial" panose="020B0604020202020204" pitchFamily="34" charset="0"/>
              <a:buChar char="•"/>
            </a:pPr>
            <a:r>
              <a:rPr lang="en-US" altLang="zh-SG" sz="1100" dirty="0"/>
              <a:t>Energy Consumption in Public Areas</a:t>
            </a:r>
            <a:endParaRPr lang="zh-SG" altLang="en-US" sz="1100" dirty="0"/>
          </a:p>
        </p:txBody>
      </p:sp>
      <p:sp>
        <p:nvSpPr>
          <p:cNvPr id="3" name="文本框 2">
            <a:extLst>
              <a:ext uri="{FF2B5EF4-FFF2-40B4-BE49-F238E27FC236}">
                <a16:creationId xmlns:a16="http://schemas.microsoft.com/office/drawing/2014/main" id="{2028DF9F-C3A5-FC2C-959E-B5E4924DCFF2}"/>
              </a:ext>
            </a:extLst>
          </p:cNvPr>
          <p:cNvSpPr txBox="1"/>
          <p:nvPr/>
        </p:nvSpPr>
        <p:spPr>
          <a:xfrm>
            <a:off x="5292436" y="323394"/>
            <a:ext cx="6382328" cy="646331"/>
          </a:xfrm>
          <a:prstGeom prst="rect">
            <a:avLst/>
          </a:prstGeom>
          <a:solidFill>
            <a:schemeClr val="bg2"/>
          </a:solidFill>
        </p:spPr>
        <p:txBody>
          <a:bodyPr wrap="square">
            <a:spAutoFit/>
          </a:bodyPr>
          <a:lstStyle/>
          <a:p>
            <a:r>
              <a:rPr lang="en-US" altLang="zh-SG" sz="1200" dirty="0"/>
              <a:t>The Meter Onboarding &amp; Reading Capture module is responsible for device onboarding, device management, and device data acquisition. It serves as the primary data entry module for the entire platform.</a:t>
            </a:r>
            <a:endParaRPr lang="zh-SG" altLang="en-US" sz="1200" dirty="0"/>
          </a:p>
        </p:txBody>
      </p:sp>
      <p:sp>
        <p:nvSpPr>
          <p:cNvPr id="4" name="文本框 3">
            <a:extLst>
              <a:ext uri="{FF2B5EF4-FFF2-40B4-BE49-F238E27FC236}">
                <a16:creationId xmlns:a16="http://schemas.microsoft.com/office/drawing/2014/main" id="{50CBEDB2-193E-DFEC-1C08-752FADE28C0E}"/>
              </a:ext>
            </a:extLst>
          </p:cNvPr>
          <p:cNvSpPr txBox="1"/>
          <p:nvPr/>
        </p:nvSpPr>
        <p:spPr>
          <a:xfrm>
            <a:off x="277090" y="5178295"/>
            <a:ext cx="6175565" cy="1569660"/>
          </a:xfrm>
          <a:prstGeom prst="rect">
            <a:avLst/>
          </a:prstGeom>
          <a:noFill/>
          <a:ln>
            <a:solidFill>
              <a:schemeClr val="tx1"/>
            </a:solidFill>
          </a:ln>
        </p:spPr>
        <p:txBody>
          <a:bodyPr wrap="square">
            <a:spAutoFit/>
          </a:bodyPr>
          <a:lstStyle/>
          <a:p>
            <a:r>
              <a:rPr lang="en-US" altLang="zh-SG" sz="1200" dirty="0"/>
              <a:t>The system shall support Appliance Type Tagging, allowing devices to be categorized according to their usage type, such as Lighting, Plug Load, and Air Conditioning.</a:t>
            </a:r>
          </a:p>
          <a:p>
            <a:r>
              <a:rPr lang="en-US" altLang="zh-SG" sz="1200" dirty="0"/>
              <a:t>The platform shall provide analytics to break down and </a:t>
            </a:r>
            <a:r>
              <a:rPr lang="en-US" altLang="zh-SG" sz="1200" dirty="0" err="1"/>
              <a:t>analyse</a:t>
            </a:r>
            <a:r>
              <a:rPr lang="en-US" altLang="zh-SG" sz="1200" dirty="0"/>
              <a:t> energy consumption by appliance category. Example categories include Lighting energy consumption and HVAC energy consumption.</a:t>
            </a:r>
          </a:p>
          <a:p>
            <a:r>
              <a:rPr lang="en-US" altLang="zh-SG" sz="1200" dirty="0"/>
              <a:t>This functionality enables users to identify which systems or equipment types contribute the most to overall energy consumption and helps support targeted energy optimization and conservation strategies.</a:t>
            </a:r>
            <a:endParaRPr lang="zh-SG" altLang="en-US" sz="1200" dirty="0"/>
          </a:p>
        </p:txBody>
      </p:sp>
    </p:spTree>
    <p:extLst>
      <p:ext uri="{BB962C8B-B14F-4D97-AF65-F5344CB8AC3E}">
        <p14:creationId xmlns:p14="http://schemas.microsoft.com/office/powerpoint/2010/main" val="373819878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9AEC78F3-578E-49AF-D922-500F434A291B}"/>
              </a:ext>
            </a:extLst>
          </p:cNvPr>
          <p:cNvSpPr txBox="1"/>
          <p:nvPr/>
        </p:nvSpPr>
        <p:spPr>
          <a:xfrm>
            <a:off x="277091" y="263297"/>
            <a:ext cx="6096000" cy="369332"/>
          </a:xfrm>
          <a:prstGeom prst="rect">
            <a:avLst/>
          </a:prstGeom>
          <a:noFill/>
        </p:spPr>
        <p:txBody>
          <a:bodyPr wrap="square">
            <a:spAutoFit/>
          </a:bodyPr>
          <a:lstStyle/>
          <a:p>
            <a:r>
              <a:rPr lang="en-US" altLang="zh-SG" dirty="0"/>
              <a:t>Part 2 — Meter Location</a:t>
            </a:r>
            <a:endParaRPr lang="zh-SG" altLang="en-US" dirty="0"/>
          </a:p>
        </p:txBody>
      </p:sp>
      <p:sp>
        <p:nvSpPr>
          <p:cNvPr id="6" name="文本框 5">
            <a:extLst>
              <a:ext uri="{FF2B5EF4-FFF2-40B4-BE49-F238E27FC236}">
                <a16:creationId xmlns:a16="http://schemas.microsoft.com/office/drawing/2014/main" id="{BFD37293-0FDF-60D4-46AC-6A2D15470045}"/>
              </a:ext>
            </a:extLst>
          </p:cNvPr>
          <p:cNvSpPr txBox="1"/>
          <p:nvPr/>
        </p:nvSpPr>
        <p:spPr>
          <a:xfrm>
            <a:off x="277091" y="799007"/>
            <a:ext cx="2392218" cy="1215717"/>
          </a:xfrm>
          <a:prstGeom prst="rect">
            <a:avLst/>
          </a:prstGeom>
          <a:noFill/>
          <a:ln>
            <a:solidFill>
              <a:schemeClr val="tx1"/>
            </a:solidFill>
          </a:ln>
        </p:spPr>
        <p:txBody>
          <a:bodyPr wrap="square">
            <a:spAutoFit/>
          </a:bodyPr>
          <a:lstStyle/>
          <a:p>
            <a:r>
              <a:rPr lang="en-US" altLang="zh-SG" dirty="0"/>
              <a:t>Hierarchy Data Model</a:t>
            </a:r>
          </a:p>
          <a:p>
            <a:pPr marL="171450" indent="-171450">
              <a:buFont typeface="Arial" panose="020B0604020202020204" pitchFamily="34" charset="0"/>
              <a:buChar char="•"/>
            </a:pPr>
            <a:r>
              <a:rPr lang="en-US" altLang="zh-SG" sz="1100" dirty="0"/>
              <a:t>Project</a:t>
            </a:r>
          </a:p>
          <a:p>
            <a:pPr marL="171450" indent="-171450">
              <a:buFont typeface="Arial" panose="020B0604020202020204" pitchFamily="34" charset="0"/>
              <a:buChar char="•"/>
            </a:pPr>
            <a:r>
              <a:rPr lang="en-US" altLang="zh-SG" sz="1100" dirty="0"/>
              <a:t>Block / Building</a:t>
            </a:r>
          </a:p>
          <a:p>
            <a:pPr marL="171450" indent="-171450">
              <a:buFont typeface="Arial" panose="020B0604020202020204" pitchFamily="34" charset="0"/>
              <a:buChar char="•"/>
            </a:pPr>
            <a:r>
              <a:rPr lang="en-US" altLang="zh-SG" sz="1100" dirty="0"/>
              <a:t>Floor</a:t>
            </a:r>
          </a:p>
          <a:p>
            <a:pPr marL="171450" indent="-171450">
              <a:buFont typeface="Arial" panose="020B0604020202020204" pitchFamily="34" charset="0"/>
              <a:buChar char="•"/>
            </a:pPr>
            <a:r>
              <a:rPr lang="en-US" altLang="zh-SG" sz="1100" dirty="0"/>
              <a:t>Room</a:t>
            </a:r>
          </a:p>
          <a:p>
            <a:r>
              <a:rPr lang="en-US" altLang="zh-SG" sz="1100" dirty="0"/>
              <a:t>Record GFA (including historical data) </a:t>
            </a:r>
          </a:p>
        </p:txBody>
      </p:sp>
      <p:sp>
        <p:nvSpPr>
          <p:cNvPr id="8" name="文本框 7">
            <a:extLst>
              <a:ext uri="{FF2B5EF4-FFF2-40B4-BE49-F238E27FC236}">
                <a16:creationId xmlns:a16="http://schemas.microsoft.com/office/drawing/2014/main" id="{1CB3DACC-4F8C-8A41-1D86-E1A9F6A27662}"/>
              </a:ext>
            </a:extLst>
          </p:cNvPr>
          <p:cNvSpPr txBox="1"/>
          <p:nvPr/>
        </p:nvSpPr>
        <p:spPr>
          <a:xfrm>
            <a:off x="277091" y="2138280"/>
            <a:ext cx="3288145" cy="707886"/>
          </a:xfrm>
          <a:prstGeom prst="rect">
            <a:avLst/>
          </a:prstGeom>
          <a:noFill/>
          <a:ln>
            <a:solidFill>
              <a:schemeClr val="tx1"/>
            </a:solidFill>
          </a:ln>
        </p:spPr>
        <p:txBody>
          <a:bodyPr wrap="square">
            <a:spAutoFit/>
          </a:bodyPr>
          <a:lstStyle/>
          <a:p>
            <a:r>
              <a:rPr lang="en-US" altLang="zh-SG" dirty="0"/>
              <a:t>Hierarchical Data Aggregation</a:t>
            </a:r>
          </a:p>
          <a:p>
            <a:r>
              <a:rPr lang="en-US" altLang="zh-SG" sz="1100" dirty="0"/>
              <a:t>After binding the hierarchy, the system can support automatic data aggregation.</a:t>
            </a:r>
            <a:endParaRPr lang="zh-SG" altLang="en-US" sz="1100" dirty="0"/>
          </a:p>
        </p:txBody>
      </p:sp>
      <p:sp>
        <p:nvSpPr>
          <p:cNvPr id="10" name="文本框 9">
            <a:extLst>
              <a:ext uri="{FF2B5EF4-FFF2-40B4-BE49-F238E27FC236}">
                <a16:creationId xmlns:a16="http://schemas.microsoft.com/office/drawing/2014/main" id="{A970E6CC-3C82-E382-7223-4BC648F2E440}"/>
              </a:ext>
            </a:extLst>
          </p:cNvPr>
          <p:cNvSpPr txBox="1"/>
          <p:nvPr/>
        </p:nvSpPr>
        <p:spPr>
          <a:xfrm>
            <a:off x="277091" y="3065422"/>
            <a:ext cx="3731491" cy="1892826"/>
          </a:xfrm>
          <a:prstGeom prst="rect">
            <a:avLst/>
          </a:prstGeom>
          <a:noFill/>
          <a:ln>
            <a:solidFill>
              <a:schemeClr val="tx1"/>
            </a:solidFill>
          </a:ln>
        </p:spPr>
        <p:txBody>
          <a:bodyPr wrap="square">
            <a:spAutoFit/>
          </a:bodyPr>
          <a:lstStyle/>
          <a:p>
            <a:r>
              <a:rPr lang="en-US" altLang="zh-SG" dirty="0"/>
              <a:t>Global Map View</a:t>
            </a:r>
          </a:p>
          <a:p>
            <a:r>
              <a:rPr lang="en-US" altLang="zh-SG" sz="1100" dirty="0"/>
              <a:t>Dashboard: Project location, Project status, Total consumption</a:t>
            </a:r>
          </a:p>
          <a:p>
            <a:r>
              <a:rPr lang="en-US" altLang="zh-SG" sz="1100" dirty="0"/>
              <a:t>When a user clicks on a project from the global map view, the platform shall zoom into the selected project and display the project-level utility overview. The interface should include key project information such as project description, address, and total size (e.g., GFA).Users should be able to navigate through the spatial hierarchy by clicking progressively from Block → Floor → Room → Device, allowing detailed exploration of utility consumption and monitoring data at each level.</a:t>
            </a:r>
            <a:endParaRPr lang="zh-SG" altLang="en-US" sz="1100" dirty="0"/>
          </a:p>
        </p:txBody>
      </p:sp>
      <p:sp>
        <p:nvSpPr>
          <p:cNvPr id="12" name="文本框 11">
            <a:extLst>
              <a:ext uri="{FF2B5EF4-FFF2-40B4-BE49-F238E27FC236}">
                <a16:creationId xmlns:a16="http://schemas.microsoft.com/office/drawing/2014/main" id="{030A81C8-2A5E-8F01-B66E-17E124AC4F77}"/>
              </a:ext>
            </a:extLst>
          </p:cNvPr>
          <p:cNvSpPr txBox="1"/>
          <p:nvPr/>
        </p:nvSpPr>
        <p:spPr>
          <a:xfrm>
            <a:off x="277090" y="5177504"/>
            <a:ext cx="3288145" cy="538609"/>
          </a:xfrm>
          <a:prstGeom prst="rect">
            <a:avLst/>
          </a:prstGeom>
          <a:noFill/>
          <a:ln>
            <a:solidFill>
              <a:schemeClr val="tx1"/>
            </a:solidFill>
          </a:ln>
        </p:spPr>
        <p:txBody>
          <a:bodyPr wrap="square">
            <a:spAutoFit/>
          </a:bodyPr>
          <a:lstStyle/>
          <a:p>
            <a:r>
              <a:rPr lang="en-US" altLang="zh-SG" dirty="0"/>
              <a:t>Building Map / Floor Map</a:t>
            </a:r>
          </a:p>
          <a:p>
            <a:r>
              <a:rPr lang="en-US" altLang="zh-SG" sz="1100" dirty="0"/>
              <a:t>Device Map Display: Device Type, Status, Consumption</a:t>
            </a:r>
            <a:endParaRPr lang="zh-SG" altLang="en-US" sz="1100" dirty="0"/>
          </a:p>
        </p:txBody>
      </p:sp>
      <p:sp>
        <p:nvSpPr>
          <p:cNvPr id="15" name="文本框 14">
            <a:extLst>
              <a:ext uri="{FF2B5EF4-FFF2-40B4-BE49-F238E27FC236}">
                <a16:creationId xmlns:a16="http://schemas.microsoft.com/office/drawing/2014/main" id="{4B3338C3-CC12-FBDA-C1EA-9B4F04A82885}"/>
              </a:ext>
            </a:extLst>
          </p:cNvPr>
          <p:cNvSpPr txBox="1"/>
          <p:nvPr/>
        </p:nvSpPr>
        <p:spPr>
          <a:xfrm>
            <a:off x="277090" y="6008946"/>
            <a:ext cx="3288145" cy="538609"/>
          </a:xfrm>
          <a:prstGeom prst="rect">
            <a:avLst/>
          </a:prstGeom>
          <a:noFill/>
          <a:ln>
            <a:solidFill>
              <a:schemeClr val="tx1"/>
            </a:solidFill>
          </a:ln>
        </p:spPr>
        <p:txBody>
          <a:bodyPr wrap="square">
            <a:spAutoFit/>
          </a:bodyPr>
          <a:lstStyle/>
          <a:p>
            <a:r>
              <a:rPr lang="en-US" altLang="zh-SG" dirty="0"/>
              <a:t>Device Movement</a:t>
            </a:r>
          </a:p>
          <a:p>
            <a:r>
              <a:rPr lang="en-US" altLang="zh-SG" sz="1100" dirty="0"/>
              <a:t>Device location history</a:t>
            </a:r>
            <a:endParaRPr lang="zh-SG" altLang="en-US" sz="1100" dirty="0"/>
          </a:p>
        </p:txBody>
      </p:sp>
      <p:sp>
        <p:nvSpPr>
          <p:cNvPr id="3" name="文本框 2">
            <a:extLst>
              <a:ext uri="{FF2B5EF4-FFF2-40B4-BE49-F238E27FC236}">
                <a16:creationId xmlns:a16="http://schemas.microsoft.com/office/drawing/2014/main" id="{CE8DE372-AB5A-6F51-EBD3-F3F42A126930}"/>
              </a:ext>
            </a:extLst>
          </p:cNvPr>
          <p:cNvSpPr txBox="1"/>
          <p:nvPr/>
        </p:nvSpPr>
        <p:spPr>
          <a:xfrm>
            <a:off x="5292436" y="323394"/>
            <a:ext cx="6345382" cy="461665"/>
          </a:xfrm>
          <a:prstGeom prst="rect">
            <a:avLst/>
          </a:prstGeom>
          <a:solidFill>
            <a:schemeClr val="bg2"/>
          </a:solidFill>
        </p:spPr>
        <p:txBody>
          <a:bodyPr wrap="square">
            <a:spAutoFit/>
          </a:bodyPr>
          <a:lstStyle/>
          <a:p>
            <a:r>
              <a:rPr lang="en-US" altLang="zh-SG" sz="1200" dirty="0"/>
              <a:t>The Meter Location module is used to manage the spatial location of devices and establish the relationship between devices and the building spatial structure.</a:t>
            </a:r>
            <a:endParaRPr lang="zh-SG" altLang="en-US" sz="1200" dirty="0"/>
          </a:p>
        </p:txBody>
      </p:sp>
    </p:spTree>
    <p:extLst>
      <p:ext uri="{BB962C8B-B14F-4D97-AF65-F5344CB8AC3E}">
        <p14:creationId xmlns:p14="http://schemas.microsoft.com/office/powerpoint/2010/main" val="82331612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9CE84AEB-2812-F0EA-4A10-76D7FDD8A45D}"/>
              </a:ext>
            </a:extLst>
          </p:cNvPr>
          <p:cNvSpPr txBox="1"/>
          <p:nvPr/>
        </p:nvSpPr>
        <p:spPr>
          <a:xfrm>
            <a:off x="277091" y="263297"/>
            <a:ext cx="6096000" cy="369332"/>
          </a:xfrm>
          <a:prstGeom prst="rect">
            <a:avLst/>
          </a:prstGeom>
          <a:noFill/>
        </p:spPr>
        <p:txBody>
          <a:bodyPr wrap="square">
            <a:spAutoFit/>
          </a:bodyPr>
          <a:lstStyle/>
          <a:p>
            <a:r>
              <a:rPr lang="en-US" altLang="zh-SG" dirty="0"/>
              <a:t>Part 3 —  Data Analysis &amp; Historical Data</a:t>
            </a:r>
            <a:endParaRPr lang="zh-SG" altLang="en-US" dirty="0"/>
          </a:p>
        </p:txBody>
      </p:sp>
      <p:sp>
        <p:nvSpPr>
          <p:cNvPr id="9" name="文本框 8">
            <a:extLst>
              <a:ext uri="{FF2B5EF4-FFF2-40B4-BE49-F238E27FC236}">
                <a16:creationId xmlns:a16="http://schemas.microsoft.com/office/drawing/2014/main" id="{B3DB4814-C817-91DB-1985-9A7E38F28D1E}"/>
              </a:ext>
            </a:extLst>
          </p:cNvPr>
          <p:cNvSpPr txBox="1"/>
          <p:nvPr/>
        </p:nvSpPr>
        <p:spPr>
          <a:xfrm>
            <a:off x="4433454" y="323394"/>
            <a:ext cx="7204364" cy="461665"/>
          </a:xfrm>
          <a:prstGeom prst="rect">
            <a:avLst/>
          </a:prstGeom>
          <a:solidFill>
            <a:schemeClr val="bg2"/>
          </a:solidFill>
        </p:spPr>
        <p:txBody>
          <a:bodyPr wrap="square">
            <a:spAutoFit/>
          </a:bodyPr>
          <a:lstStyle/>
          <a:p>
            <a:r>
              <a:rPr lang="en-US" altLang="zh-SG" sz="1200" dirty="0"/>
              <a:t>The Data Analysis &amp; Historical Data module serves as the core analytics component of the platform. Its primary role is to store, aggregate, analyze, and visualize data collected from devices.</a:t>
            </a:r>
            <a:endParaRPr lang="zh-SG" altLang="en-US" sz="1200" dirty="0"/>
          </a:p>
        </p:txBody>
      </p:sp>
      <p:sp>
        <p:nvSpPr>
          <p:cNvPr id="11" name="文本框 10">
            <a:extLst>
              <a:ext uri="{FF2B5EF4-FFF2-40B4-BE49-F238E27FC236}">
                <a16:creationId xmlns:a16="http://schemas.microsoft.com/office/drawing/2014/main" id="{6F78CFDF-0869-60EA-B467-80DC1160F3AF}"/>
              </a:ext>
            </a:extLst>
          </p:cNvPr>
          <p:cNvSpPr txBox="1"/>
          <p:nvPr/>
        </p:nvSpPr>
        <p:spPr>
          <a:xfrm>
            <a:off x="277091" y="909261"/>
            <a:ext cx="5892800" cy="2062103"/>
          </a:xfrm>
          <a:prstGeom prst="rect">
            <a:avLst/>
          </a:prstGeom>
          <a:noFill/>
          <a:ln>
            <a:solidFill>
              <a:schemeClr val="tx1"/>
            </a:solidFill>
          </a:ln>
        </p:spPr>
        <p:txBody>
          <a:bodyPr wrap="square">
            <a:spAutoFit/>
          </a:bodyPr>
          <a:lstStyle/>
          <a:p>
            <a:r>
              <a:rPr lang="en-US" altLang="zh-SG" dirty="0"/>
              <a:t>Historical Data Management</a:t>
            </a:r>
          </a:p>
          <a:p>
            <a:r>
              <a:rPr lang="en-US" altLang="zh-SG" sz="1600" dirty="0"/>
              <a:t>The system must support long-term storage of device data and allow users to query consumption data over different time ranges.</a:t>
            </a:r>
          </a:p>
          <a:p>
            <a:r>
              <a:rPr lang="en-US" altLang="zh-SG" sz="1600" dirty="0"/>
              <a:t>Historical data must support the following time granularities:</a:t>
            </a:r>
          </a:p>
          <a:p>
            <a:pPr marL="171450" indent="-171450">
              <a:buFont typeface="Arial" panose="020B0604020202020204" pitchFamily="34" charset="0"/>
              <a:buChar char="•"/>
            </a:pPr>
            <a:r>
              <a:rPr lang="en-US" altLang="zh-SG" sz="1200" dirty="0"/>
              <a:t>Hourly usage</a:t>
            </a:r>
          </a:p>
          <a:p>
            <a:pPr marL="171450" indent="-171450">
              <a:buFont typeface="Arial" panose="020B0604020202020204" pitchFamily="34" charset="0"/>
              <a:buChar char="•"/>
            </a:pPr>
            <a:r>
              <a:rPr lang="en-US" altLang="zh-SG" sz="1200" dirty="0"/>
              <a:t>Daily usage</a:t>
            </a:r>
          </a:p>
          <a:p>
            <a:pPr marL="171450" indent="-171450">
              <a:buFont typeface="Arial" panose="020B0604020202020204" pitchFamily="34" charset="0"/>
              <a:buChar char="•"/>
            </a:pPr>
            <a:r>
              <a:rPr lang="en-US" altLang="zh-SG" sz="1200" dirty="0"/>
              <a:t>Monthly usage</a:t>
            </a:r>
          </a:p>
          <a:p>
            <a:pPr marL="171450" indent="-171450">
              <a:buFont typeface="Arial" panose="020B0604020202020204" pitchFamily="34" charset="0"/>
              <a:buChar char="•"/>
            </a:pPr>
            <a:r>
              <a:rPr lang="en-US" altLang="zh-SG" sz="1200" dirty="0"/>
              <a:t>Yearly usage</a:t>
            </a:r>
          </a:p>
          <a:p>
            <a:pPr marL="171450" indent="-171450">
              <a:buFont typeface="Arial" panose="020B0604020202020204" pitchFamily="34" charset="0"/>
              <a:buChar char="•"/>
            </a:pPr>
            <a:r>
              <a:rPr lang="en-US" altLang="zh-SG" sz="1200" dirty="0"/>
              <a:t>Custom period</a:t>
            </a:r>
            <a:endParaRPr lang="zh-SG" altLang="en-US" sz="1200" dirty="0"/>
          </a:p>
        </p:txBody>
      </p:sp>
      <p:sp>
        <p:nvSpPr>
          <p:cNvPr id="13" name="文本框 12">
            <a:extLst>
              <a:ext uri="{FF2B5EF4-FFF2-40B4-BE49-F238E27FC236}">
                <a16:creationId xmlns:a16="http://schemas.microsoft.com/office/drawing/2014/main" id="{176BD0D6-EC8F-9487-29EE-8E136CB33F48}"/>
              </a:ext>
            </a:extLst>
          </p:cNvPr>
          <p:cNvSpPr txBox="1"/>
          <p:nvPr/>
        </p:nvSpPr>
        <p:spPr>
          <a:xfrm>
            <a:off x="277091" y="3077399"/>
            <a:ext cx="6096000" cy="861774"/>
          </a:xfrm>
          <a:prstGeom prst="rect">
            <a:avLst/>
          </a:prstGeom>
          <a:noFill/>
          <a:ln>
            <a:solidFill>
              <a:schemeClr val="tx1"/>
            </a:solidFill>
          </a:ln>
        </p:spPr>
        <p:txBody>
          <a:bodyPr wrap="square">
            <a:spAutoFit/>
          </a:bodyPr>
          <a:lstStyle/>
          <a:p>
            <a:r>
              <a:rPr lang="en-US" altLang="zh-SG" dirty="0"/>
              <a:t>Hierarchical Data Aggregation</a:t>
            </a:r>
          </a:p>
          <a:p>
            <a:r>
              <a:rPr lang="en-US" altLang="zh-SG" sz="1600" dirty="0"/>
              <a:t>the system must support a hierarchical spatial data model:</a:t>
            </a:r>
          </a:p>
          <a:p>
            <a:r>
              <a:rPr lang="en-US" altLang="zh-SG" sz="1600" dirty="0"/>
              <a:t>Device → Room → Floor → Block → Project</a:t>
            </a:r>
            <a:endParaRPr lang="zh-SG" altLang="en-US" sz="1600" dirty="0"/>
          </a:p>
        </p:txBody>
      </p:sp>
      <p:sp>
        <p:nvSpPr>
          <p:cNvPr id="15" name="文本框 14">
            <a:extLst>
              <a:ext uri="{FF2B5EF4-FFF2-40B4-BE49-F238E27FC236}">
                <a16:creationId xmlns:a16="http://schemas.microsoft.com/office/drawing/2014/main" id="{2991B7C6-0708-021B-741B-4315E1F9477F}"/>
              </a:ext>
            </a:extLst>
          </p:cNvPr>
          <p:cNvSpPr txBox="1"/>
          <p:nvPr/>
        </p:nvSpPr>
        <p:spPr>
          <a:xfrm>
            <a:off x="277091" y="4114832"/>
            <a:ext cx="6096000" cy="1908215"/>
          </a:xfrm>
          <a:prstGeom prst="rect">
            <a:avLst/>
          </a:prstGeom>
          <a:noFill/>
          <a:ln>
            <a:solidFill>
              <a:schemeClr val="tx1"/>
            </a:solidFill>
          </a:ln>
        </p:spPr>
        <p:txBody>
          <a:bodyPr wrap="square">
            <a:spAutoFit/>
          </a:bodyPr>
          <a:lstStyle/>
          <a:p>
            <a:r>
              <a:rPr lang="en-US" altLang="zh-SG" dirty="0"/>
              <a:t>Utility Usage Analysis</a:t>
            </a:r>
          </a:p>
          <a:p>
            <a:r>
              <a:rPr lang="en-US" altLang="zh-SG" sz="1600" dirty="0"/>
              <a:t>The platform should provide Utilities Analytics to help identify opportunities for energy and water savings. A key feature is the </a:t>
            </a:r>
            <a:r>
              <a:rPr lang="en-US" altLang="zh-SG" sz="1600" b="1" dirty="0"/>
              <a:t>Utility Usage Report</a:t>
            </a:r>
            <a:r>
              <a:rPr lang="en-US" altLang="zh-SG" sz="1600" dirty="0"/>
              <a:t>, which allows users to view consumption data across different time intervals:</a:t>
            </a:r>
          </a:p>
          <a:p>
            <a:pPr marL="171450" indent="-171450">
              <a:buFont typeface="Arial" panose="020B0604020202020204" pitchFamily="34" charset="0"/>
              <a:buChar char="•"/>
            </a:pPr>
            <a:r>
              <a:rPr lang="en-US" altLang="zh-SG" sz="1200" dirty="0"/>
              <a:t>Hourly usage</a:t>
            </a:r>
          </a:p>
          <a:p>
            <a:pPr marL="171450" indent="-171450">
              <a:buFont typeface="Arial" panose="020B0604020202020204" pitchFamily="34" charset="0"/>
              <a:buChar char="•"/>
            </a:pPr>
            <a:r>
              <a:rPr lang="en-US" altLang="zh-SG" sz="1200" dirty="0"/>
              <a:t>Daily usage</a:t>
            </a:r>
          </a:p>
          <a:p>
            <a:pPr marL="171450" indent="-171450">
              <a:buFont typeface="Arial" panose="020B0604020202020204" pitchFamily="34" charset="0"/>
              <a:buChar char="•"/>
            </a:pPr>
            <a:r>
              <a:rPr lang="en-US" altLang="zh-SG" sz="1200" dirty="0"/>
              <a:t>Monthly usage</a:t>
            </a:r>
            <a:endParaRPr lang="zh-SG" altLang="en-US" sz="1200" dirty="0"/>
          </a:p>
        </p:txBody>
      </p:sp>
    </p:spTree>
    <p:extLst>
      <p:ext uri="{BB962C8B-B14F-4D97-AF65-F5344CB8AC3E}">
        <p14:creationId xmlns:p14="http://schemas.microsoft.com/office/powerpoint/2010/main" val="172105310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73F596-F86B-9470-6350-AF32FCD9547A}"/>
            </a:ext>
          </a:extLst>
        </p:cNvPr>
        <p:cNvGrpSpPr/>
        <p:nvPr/>
      </p:nvGrpSpPr>
      <p:grpSpPr>
        <a:xfrm>
          <a:off x="0" y="0"/>
          <a:ext cx="0" cy="0"/>
          <a:chOff x="0" y="0"/>
          <a:chExt cx="0" cy="0"/>
        </a:xfrm>
      </p:grpSpPr>
      <p:sp>
        <p:nvSpPr>
          <p:cNvPr id="4" name="文本框 3">
            <a:extLst>
              <a:ext uri="{FF2B5EF4-FFF2-40B4-BE49-F238E27FC236}">
                <a16:creationId xmlns:a16="http://schemas.microsoft.com/office/drawing/2014/main" id="{6FB9A385-3615-105A-6F95-E29357049AA5}"/>
              </a:ext>
            </a:extLst>
          </p:cNvPr>
          <p:cNvSpPr txBox="1"/>
          <p:nvPr/>
        </p:nvSpPr>
        <p:spPr>
          <a:xfrm>
            <a:off x="277091" y="263297"/>
            <a:ext cx="6096000" cy="369332"/>
          </a:xfrm>
          <a:prstGeom prst="rect">
            <a:avLst/>
          </a:prstGeom>
          <a:noFill/>
        </p:spPr>
        <p:txBody>
          <a:bodyPr wrap="square">
            <a:spAutoFit/>
          </a:bodyPr>
          <a:lstStyle/>
          <a:p>
            <a:r>
              <a:rPr lang="en-US" altLang="zh-SG" dirty="0"/>
              <a:t>Part 3 —  Data Analysis &amp; Historical Data</a:t>
            </a:r>
            <a:endParaRPr lang="zh-SG" altLang="en-US" dirty="0"/>
          </a:p>
        </p:txBody>
      </p:sp>
      <p:sp>
        <p:nvSpPr>
          <p:cNvPr id="9" name="文本框 8">
            <a:extLst>
              <a:ext uri="{FF2B5EF4-FFF2-40B4-BE49-F238E27FC236}">
                <a16:creationId xmlns:a16="http://schemas.microsoft.com/office/drawing/2014/main" id="{E5791B38-7B94-77E6-BD0E-A7D4AFFC77F9}"/>
              </a:ext>
            </a:extLst>
          </p:cNvPr>
          <p:cNvSpPr txBox="1"/>
          <p:nvPr/>
        </p:nvSpPr>
        <p:spPr>
          <a:xfrm>
            <a:off x="4433454" y="323394"/>
            <a:ext cx="7204364" cy="461665"/>
          </a:xfrm>
          <a:prstGeom prst="rect">
            <a:avLst/>
          </a:prstGeom>
          <a:solidFill>
            <a:schemeClr val="bg2"/>
          </a:solidFill>
        </p:spPr>
        <p:txBody>
          <a:bodyPr wrap="square">
            <a:spAutoFit/>
          </a:bodyPr>
          <a:lstStyle/>
          <a:p>
            <a:r>
              <a:rPr lang="en-US" altLang="zh-SG" sz="1200" dirty="0"/>
              <a:t>The Data Analysis &amp; Historical Data module serves as the core analytics component of the platform. Its primary role is to store, aggregate, analyze, and visualize data collected from devices.</a:t>
            </a:r>
            <a:endParaRPr lang="zh-SG" altLang="en-US" sz="1200" dirty="0"/>
          </a:p>
        </p:txBody>
      </p:sp>
      <p:sp>
        <p:nvSpPr>
          <p:cNvPr id="11" name="文本框 10">
            <a:extLst>
              <a:ext uri="{FF2B5EF4-FFF2-40B4-BE49-F238E27FC236}">
                <a16:creationId xmlns:a16="http://schemas.microsoft.com/office/drawing/2014/main" id="{494B3E71-2896-C84E-D168-63C49F37B6F5}"/>
              </a:ext>
            </a:extLst>
          </p:cNvPr>
          <p:cNvSpPr txBox="1"/>
          <p:nvPr/>
        </p:nvSpPr>
        <p:spPr>
          <a:xfrm>
            <a:off x="277091" y="891094"/>
            <a:ext cx="5892800" cy="1815882"/>
          </a:xfrm>
          <a:prstGeom prst="rect">
            <a:avLst/>
          </a:prstGeom>
          <a:noFill/>
          <a:ln>
            <a:solidFill>
              <a:schemeClr val="tx1"/>
            </a:solidFill>
          </a:ln>
        </p:spPr>
        <p:txBody>
          <a:bodyPr wrap="square">
            <a:spAutoFit/>
          </a:bodyPr>
          <a:lstStyle/>
          <a:p>
            <a:r>
              <a:rPr lang="en-US" altLang="zh-SG" dirty="0"/>
              <a:t>Utility Ranking</a:t>
            </a:r>
          </a:p>
          <a:p>
            <a:r>
              <a:rPr lang="en-US" altLang="zh-SG" sz="1600" dirty="0"/>
              <a:t>The system could generate a Utility Ranking Report. The platform should be able to identify:</a:t>
            </a:r>
          </a:p>
          <a:p>
            <a:pPr marL="171450" indent="-171450">
              <a:buFont typeface="Arial" panose="020B0604020202020204" pitchFamily="34" charset="0"/>
              <a:buChar char="•"/>
            </a:pPr>
            <a:r>
              <a:rPr lang="en-US" altLang="zh-SG" sz="1050" dirty="0"/>
              <a:t>Top energy consumers</a:t>
            </a:r>
          </a:p>
          <a:p>
            <a:pPr marL="171450" indent="-171450">
              <a:buFont typeface="Arial" panose="020B0604020202020204" pitchFamily="34" charset="0"/>
              <a:buChar char="•"/>
            </a:pPr>
            <a:r>
              <a:rPr lang="en-US" altLang="zh-SG" sz="1050" dirty="0"/>
              <a:t>Top water consumers</a:t>
            </a:r>
          </a:p>
          <a:p>
            <a:r>
              <a:rPr lang="en-US" altLang="zh-SG" sz="1600" dirty="0"/>
              <a:t>Ranking can be calculated across different dimensions, including:</a:t>
            </a:r>
            <a:endParaRPr lang="en-US" altLang="zh-SG" dirty="0"/>
          </a:p>
          <a:p>
            <a:pPr marL="171450" indent="-171450">
              <a:buFont typeface="Arial" panose="020B0604020202020204" pitchFamily="34" charset="0"/>
              <a:buChar char="•"/>
            </a:pPr>
            <a:r>
              <a:rPr lang="en-US" altLang="zh-SG" sz="1100" dirty="0"/>
              <a:t>Space</a:t>
            </a:r>
          </a:p>
          <a:p>
            <a:pPr marL="171450" indent="-171450">
              <a:buFont typeface="Arial" panose="020B0604020202020204" pitchFamily="34" charset="0"/>
              <a:buChar char="•"/>
            </a:pPr>
            <a:r>
              <a:rPr lang="en-US" altLang="zh-SG" sz="1100" dirty="0"/>
              <a:t>Usage tag</a:t>
            </a:r>
          </a:p>
        </p:txBody>
      </p:sp>
      <p:sp>
        <p:nvSpPr>
          <p:cNvPr id="5" name="文本框 4">
            <a:extLst>
              <a:ext uri="{FF2B5EF4-FFF2-40B4-BE49-F238E27FC236}">
                <a16:creationId xmlns:a16="http://schemas.microsoft.com/office/drawing/2014/main" id="{FD9954C0-E165-0BE3-60CB-34B45CBFB647}"/>
              </a:ext>
            </a:extLst>
          </p:cNvPr>
          <p:cNvSpPr txBox="1"/>
          <p:nvPr/>
        </p:nvSpPr>
        <p:spPr>
          <a:xfrm>
            <a:off x="277091" y="2813011"/>
            <a:ext cx="6580908" cy="2970044"/>
          </a:xfrm>
          <a:prstGeom prst="rect">
            <a:avLst/>
          </a:prstGeom>
          <a:noFill/>
          <a:ln>
            <a:solidFill>
              <a:schemeClr val="tx1"/>
            </a:solidFill>
          </a:ln>
        </p:spPr>
        <p:txBody>
          <a:bodyPr wrap="square">
            <a:spAutoFit/>
          </a:bodyPr>
          <a:lstStyle/>
          <a:p>
            <a:r>
              <a:rPr lang="en-US" altLang="zh-SG" dirty="0"/>
              <a:t>Consumption Benchmarking</a:t>
            </a:r>
          </a:p>
          <a:p>
            <a:r>
              <a:rPr lang="en-US" altLang="zh-SG" sz="1600" dirty="0"/>
              <a:t>The system should support Average Consumption Benchmarking (i.e. calculating average consumption values and comparing individual entities against those averages).</a:t>
            </a:r>
          </a:p>
          <a:p>
            <a:r>
              <a:rPr lang="en-US" altLang="zh-SG" sz="1400" dirty="0"/>
              <a:t>For example, a room’s energy consumption can be compared against:</a:t>
            </a:r>
          </a:p>
          <a:p>
            <a:r>
              <a:rPr lang="en-US" altLang="zh-SG" sz="1100" dirty="0"/>
              <a:t>The average consumption of other rooms on the same floor</a:t>
            </a:r>
          </a:p>
          <a:p>
            <a:r>
              <a:rPr lang="en-US" altLang="zh-SG" sz="1100" dirty="0"/>
              <a:t>The average consumption of other blocks within the same project</a:t>
            </a:r>
          </a:p>
          <a:p>
            <a:r>
              <a:rPr lang="en-US" altLang="zh-SG" sz="1100" dirty="0"/>
              <a:t>The average consumption of buildings of the same property type</a:t>
            </a:r>
          </a:p>
          <a:p>
            <a:r>
              <a:rPr lang="en-US" altLang="zh-SG" sz="1400" dirty="0"/>
              <a:t>If consumption significantly exceeds the benchmark, the system should flag the anomaly.</a:t>
            </a:r>
          </a:p>
          <a:p>
            <a:r>
              <a:rPr lang="en-US" altLang="zh-SG" sz="1100" dirty="0"/>
              <a:t>Example:</a:t>
            </a:r>
          </a:p>
          <a:p>
            <a:r>
              <a:rPr lang="en-US" altLang="zh-SG" sz="1100" dirty="0"/>
              <a:t>Room energy consumption+20% above average</a:t>
            </a:r>
            <a:endParaRPr lang="en-US" altLang="zh-SG" sz="1400" dirty="0"/>
          </a:p>
          <a:p>
            <a:r>
              <a:rPr lang="en-US" altLang="zh-SG" sz="1400" dirty="0"/>
              <a:t>The platform should display:</a:t>
            </a:r>
          </a:p>
          <a:p>
            <a:r>
              <a:rPr lang="en-US" altLang="zh-SG" sz="1100" dirty="0"/>
              <a:t>Percentage difference</a:t>
            </a:r>
          </a:p>
          <a:p>
            <a:r>
              <a:rPr lang="en-US" altLang="zh-SG" sz="1100" dirty="0"/>
              <a:t>Abnormal consumption indicator</a:t>
            </a:r>
            <a:endParaRPr lang="zh-SG" altLang="en-US" dirty="0"/>
          </a:p>
        </p:txBody>
      </p:sp>
    </p:spTree>
    <p:extLst>
      <p:ext uri="{BB962C8B-B14F-4D97-AF65-F5344CB8AC3E}">
        <p14:creationId xmlns:p14="http://schemas.microsoft.com/office/powerpoint/2010/main" val="372731522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04D06E-AFF1-EE61-0509-30C01504BA44}"/>
            </a:ext>
          </a:extLst>
        </p:cNvPr>
        <p:cNvGrpSpPr/>
        <p:nvPr/>
      </p:nvGrpSpPr>
      <p:grpSpPr>
        <a:xfrm>
          <a:off x="0" y="0"/>
          <a:ext cx="0" cy="0"/>
          <a:chOff x="0" y="0"/>
          <a:chExt cx="0" cy="0"/>
        </a:xfrm>
      </p:grpSpPr>
      <p:sp>
        <p:nvSpPr>
          <p:cNvPr id="4" name="文本框 3">
            <a:extLst>
              <a:ext uri="{FF2B5EF4-FFF2-40B4-BE49-F238E27FC236}">
                <a16:creationId xmlns:a16="http://schemas.microsoft.com/office/drawing/2014/main" id="{9EEE3DFA-D8F1-F5A9-C2C7-20BDABADDDC0}"/>
              </a:ext>
            </a:extLst>
          </p:cNvPr>
          <p:cNvSpPr txBox="1"/>
          <p:nvPr/>
        </p:nvSpPr>
        <p:spPr>
          <a:xfrm>
            <a:off x="277091" y="263297"/>
            <a:ext cx="6096000" cy="369332"/>
          </a:xfrm>
          <a:prstGeom prst="rect">
            <a:avLst/>
          </a:prstGeom>
          <a:noFill/>
        </p:spPr>
        <p:txBody>
          <a:bodyPr wrap="square">
            <a:spAutoFit/>
          </a:bodyPr>
          <a:lstStyle/>
          <a:p>
            <a:r>
              <a:rPr lang="en-US" altLang="zh-SG" dirty="0"/>
              <a:t>Part 3 —  Data Analysis &amp; Historical Data</a:t>
            </a:r>
            <a:endParaRPr lang="zh-SG" altLang="en-US" dirty="0"/>
          </a:p>
        </p:txBody>
      </p:sp>
      <p:sp>
        <p:nvSpPr>
          <p:cNvPr id="9" name="文本框 8">
            <a:extLst>
              <a:ext uri="{FF2B5EF4-FFF2-40B4-BE49-F238E27FC236}">
                <a16:creationId xmlns:a16="http://schemas.microsoft.com/office/drawing/2014/main" id="{78D54403-09F9-10AC-EA2F-AAEA1E5045ED}"/>
              </a:ext>
            </a:extLst>
          </p:cNvPr>
          <p:cNvSpPr txBox="1"/>
          <p:nvPr/>
        </p:nvSpPr>
        <p:spPr>
          <a:xfrm>
            <a:off x="4433454" y="323394"/>
            <a:ext cx="7204364" cy="461665"/>
          </a:xfrm>
          <a:prstGeom prst="rect">
            <a:avLst/>
          </a:prstGeom>
          <a:solidFill>
            <a:schemeClr val="bg2"/>
          </a:solidFill>
        </p:spPr>
        <p:txBody>
          <a:bodyPr wrap="square">
            <a:spAutoFit/>
          </a:bodyPr>
          <a:lstStyle/>
          <a:p>
            <a:r>
              <a:rPr lang="en-US" altLang="zh-SG" sz="1200" dirty="0"/>
              <a:t>The Data Analysis &amp; Historical Data module serves as the core analytics component of the platform. Its primary role is to store, aggregate, analyze, and visualize data collected from devices.</a:t>
            </a:r>
            <a:endParaRPr lang="zh-SG" altLang="en-US" sz="1200" dirty="0"/>
          </a:p>
        </p:txBody>
      </p:sp>
      <p:sp>
        <p:nvSpPr>
          <p:cNvPr id="11" name="文本框 10">
            <a:extLst>
              <a:ext uri="{FF2B5EF4-FFF2-40B4-BE49-F238E27FC236}">
                <a16:creationId xmlns:a16="http://schemas.microsoft.com/office/drawing/2014/main" id="{0DA7DF30-6675-D41B-34EF-D84268523FED}"/>
              </a:ext>
            </a:extLst>
          </p:cNvPr>
          <p:cNvSpPr txBox="1"/>
          <p:nvPr/>
        </p:nvSpPr>
        <p:spPr>
          <a:xfrm>
            <a:off x="277091" y="891094"/>
            <a:ext cx="5892800" cy="4508927"/>
          </a:xfrm>
          <a:prstGeom prst="rect">
            <a:avLst/>
          </a:prstGeom>
          <a:noFill/>
          <a:ln>
            <a:solidFill>
              <a:schemeClr val="tx1"/>
            </a:solidFill>
          </a:ln>
        </p:spPr>
        <p:txBody>
          <a:bodyPr wrap="square">
            <a:spAutoFit/>
          </a:bodyPr>
          <a:lstStyle/>
          <a:p>
            <a:r>
              <a:rPr lang="en-US" altLang="zh-SG" dirty="0"/>
              <a:t>Energy and Water Efficiency Index</a:t>
            </a:r>
          </a:p>
          <a:p>
            <a:r>
              <a:rPr lang="en-US" altLang="zh-SG" sz="1600" dirty="0"/>
              <a:t>The platform must calculate building efficiency indicators.</a:t>
            </a:r>
          </a:p>
          <a:p>
            <a:r>
              <a:rPr lang="en-US" altLang="zh-SG" sz="1600" b="1" dirty="0"/>
              <a:t>Energy </a:t>
            </a:r>
            <a:r>
              <a:rPr lang="en-US" altLang="zh-SG" sz="1600" b="1" dirty="0" err="1"/>
              <a:t>Utilisation</a:t>
            </a:r>
            <a:r>
              <a:rPr lang="en-US" altLang="zh-SG" sz="1600" b="1" dirty="0"/>
              <a:t> Index (EUI)</a:t>
            </a:r>
          </a:p>
          <a:p>
            <a:r>
              <a:rPr lang="en-US" altLang="zh-SG" sz="1600" dirty="0"/>
              <a:t>EUI measures the energy efficiency of a building.</a:t>
            </a:r>
          </a:p>
          <a:p>
            <a:r>
              <a:rPr lang="en-US" altLang="zh-SG" sz="1100" dirty="0"/>
              <a:t>The formula is: EUI = Energy Consumption / GFA</a:t>
            </a:r>
          </a:p>
          <a:p>
            <a:r>
              <a:rPr lang="en-US" altLang="zh-SG" sz="1100" dirty="0"/>
              <a:t>Unit: kWh / m²</a:t>
            </a:r>
          </a:p>
          <a:p>
            <a:r>
              <a:rPr lang="en-US" altLang="zh-SG" sz="1600" dirty="0"/>
              <a:t>The system must automatically compute EUI using historical energy consumption data.</a:t>
            </a:r>
          </a:p>
          <a:p>
            <a:r>
              <a:rPr lang="en-US" altLang="zh-SG" sz="1600" b="1" dirty="0"/>
              <a:t>Water Efficiency Index (WEI)</a:t>
            </a:r>
          </a:p>
          <a:p>
            <a:r>
              <a:rPr lang="en-US" altLang="zh-SG" sz="1600" dirty="0"/>
              <a:t>The system must also calculate the Water Efficiency Index (WEI).</a:t>
            </a:r>
          </a:p>
          <a:p>
            <a:r>
              <a:rPr lang="en-US" altLang="zh-SG" sz="1100" dirty="0"/>
              <a:t>WEI = Water Consumption / GFA</a:t>
            </a:r>
          </a:p>
          <a:p>
            <a:r>
              <a:rPr lang="en-US" altLang="zh-SG" sz="1600" dirty="0"/>
              <a:t>This metric helps evaluate water efficiency across buildings.</a:t>
            </a:r>
          </a:p>
          <a:p>
            <a:r>
              <a:rPr lang="en-US" altLang="zh-SG" sz="1600" b="1" dirty="0"/>
              <a:t>Historical GFA Support</a:t>
            </a:r>
          </a:p>
          <a:p>
            <a:r>
              <a:rPr lang="en-US" altLang="zh-SG" sz="1600" dirty="0"/>
              <a:t>The Excel requirements specify that the platform must maintain historical Gross Floor Area (GFA) records. This is necessary because building floor area may change over time.</a:t>
            </a:r>
          </a:p>
          <a:p>
            <a:r>
              <a:rPr lang="en-US" altLang="zh-SG" sz="1100" dirty="0"/>
              <a:t>Example:</a:t>
            </a:r>
          </a:p>
          <a:p>
            <a:r>
              <a:rPr lang="en-US" altLang="zh-SG" sz="1100" dirty="0"/>
              <a:t>2024 GFA = 5000 m²</a:t>
            </a:r>
          </a:p>
          <a:p>
            <a:r>
              <a:rPr lang="en-US" altLang="zh-SG" sz="1100" dirty="0"/>
              <a:t>2025 GFA = 5200 m²</a:t>
            </a:r>
          </a:p>
          <a:p>
            <a:r>
              <a:rPr lang="en-US" altLang="zh-SG" sz="1100" dirty="0"/>
              <a:t>The system must use the correct GFA value based on the timestamp when calculating EUI or WEI.</a:t>
            </a:r>
            <a:endParaRPr lang="en-US" altLang="zh-SG" sz="800" dirty="0"/>
          </a:p>
        </p:txBody>
      </p:sp>
    </p:spTree>
    <p:extLst>
      <p:ext uri="{BB962C8B-B14F-4D97-AF65-F5344CB8AC3E}">
        <p14:creationId xmlns:p14="http://schemas.microsoft.com/office/powerpoint/2010/main" val="239581469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B20ED3-70FA-2938-3E1D-A5C3E7E734A2}"/>
            </a:ext>
          </a:extLst>
        </p:cNvPr>
        <p:cNvGrpSpPr/>
        <p:nvPr/>
      </p:nvGrpSpPr>
      <p:grpSpPr>
        <a:xfrm>
          <a:off x="0" y="0"/>
          <a:ext cx="0" cy="0"/>
          <a:chOff x="0" y="0"/>
          <a:chExt cx="0" cy="0"/>
        </a:xfrm>
      </p:grpSpPr>
      <p:sp>
        <p:nvSpPr>
          <p:cNvPr id="4" name="文本框 3">
            <a:extLst>
              <a:ext uri="{FF2B5EF4-FFF2-40B4-BE49-F238E27FC236}">
                <a16:creationId xmlns:a16="http://schemas.microsoft.com/office/drawing/2014/main" id="{8D159341-7831-9E12-ECA5-446371573F86}"/>
              </a:ext>
            </a:extLst>
          </p:cNvPr>
          <p:cNvSpPr txBox="1"/>
          <p:nvPr/>
        </p:nvSpPr>
        <p:spPr>
          <a:xfrm>
            <a:off x="277091" y="263297"/>
            <a:ext cx="6096000" cy="369332"/>
          </a:xfrm>
          <a:prstGeom prst="rect">
            <a:avLst/>
          </a:prstGeom>
          <a:noFill/>
        </p:spPr>
        <p:txBody>
          <a:bodyPr wrap="square">
            <a:spAutoFit/>
          </a:bodyPr>
          <a:lstStyle/>
          <a:p>
            <a:r>
              <a:rPr lang="en-US" altLang="zh-SG" dirty="0"/>
              <a:t>Part 3 —  Data Analysis &amp; Historical Data</a:t>
            </a:r>
            <a:endParaRPr lang="zh-SG" altLang="en-US" dirty="0"/>
          </a:p>
        </p:txBody>
      </p:sp>
      <p:sp>
        <p:nvSpPr>
          <p:cNvPr id="9" name="文本框 8">
            <a:extLst>
              <a:ext uri="{FF2B5EF4-FFF2-40B4-BE49-F238E27FC236}">
                <a16:creationId xmlns:a16="http://schemas.microsoft.com/office/drawing/2014/main" id="{144B44A2-C1E8-55D5-2F6B-D26B860972DA}"/>
              </a:ext>
            </a:extLst>
          </p:cNvPr>
          <p:cNvSpPr txBox="1"/>
          <p:nvPr/>
        </p:nvSpPr>
        <p:spPr>
          <a:xfrm>
            <a:off x="4433454" y="323394"/>
            <a:ext cx="7204364" cy="461665"/>
          </a:xfrm>
          <a:prstGeom prst="rect">
            <a:avLst/>
          </a:prstGeom>
          <a:solidFill>
            <a:schemeClr val="bg2"/>
          </a:solidFill>
        </p:spPr>
        <p:txBody>
          <a:bodyPr wrap="square">
            <a:spAutoFit/>
          </a:bodyPr>
          <a:lstStyle/>
          <a:p>
            <a:r>
              <a:rPr lang="en-US" altLang="zh-SG" sz="1200" dirty="0"/>
              <a:t>The Data Analysis &amp; Historical Data module serves as the core analytics component of the platform. Its primary role is to store, aggregate, analyze, and visualize data collected from devices.</a:t>
            </a:r>
            <a:endParaRPr lang="zh-SG" altLang="en-US" sz="1200" dirty="0"/>
          </a:p>
        </p:txBody>
      </p:sp>
      <p:sp>
        <p:nvSpPr>
          <p:cNvPr id="11" name="文本框 10">
            <a:extLst>
              <a:ext uri="{FF2B5EF4-FFF2-40B4-BE49-F238E27FC236}">
                <a16:creationId xmlns:a16="http://schemas.microsoft.com/office/drawing/2014/main" id="{CEEA5676-BBBF-BF0D-BFD5-8088C242F753}"/>
              </a:ext>
            </a:extLst>
          </p:cNvPr>
          <p:cNvSpPr txBox="1"/>
          <p:nvPr/>
        </p:nvSpPr>
        <p:spPr>
          <a:xfrm>
            <a:off x="277091" y="891094"/>
            <a:ext cx="5892800" cy="2662267"/>
          </a:xfrm>
          <a:prstGeom prst="rect">
            <a:avLst/>
          </a:prstGeom>
          <a:noFill/>
          <a:ln>
            <a:solidFill>
              <a:schemeClr val="tx1"/>
            </a:solidFill>
          </a:ln>
        </p:spPr>
        <p:txBody>
          <a:bodyPr wrap="square">
            <a:spAutoFit/>
          </a:bodyPr>
          <a:lstStyle/>
          <a:p>
            <a:r>
              <a:rPr lang="en-US" altLang="zh-SG" dirty="0"/>
              <a:t>Data Visualization</a:t>
            </a:r>
          </a:p>
          <a:p>
            <a:r>
              <a:rPr lang="en-US" altLang="zh-SG" sz="1600" dirty="0"/>
              <a:t>The dashboards should support multiple visualization types and provide the following chart types:</a:t>
            </a:r>
          </a:p>
          <a:p>
            <a:r>
              <a:rPr lang="en-US" altLang="zh-SG" sz="1100" dirty="0"/>
              <a:t>Line charts (trend analysis)</a:t>
            </a:r>
          </a:p>
          <a:p>
            <a:r>
              <a:rPr lang="en-US" altLang="zh-SG" sz="1100" dirty="0"/>
              <a:t>Bar charts (comparison analysis)</a:t>
            </a:r>
          </a:p>
          <a:p>
            <a:r>
              <a:rPr lang="en-US" altLang="zh-SG" sz="1100" dirty="0"/>
              <a:t>Pie charts (distribution analysis)</a:t>
            </a:r>
          </a:p>
          <a:p>
            <a:r>
              <a:rPr lang="en-US" altLang="zh-SG" sz="1100" dirty="0"/>
              <a:t>Histograms</a:t>
            </a:r>
          </a:p>
          <a:p>
            <a:r>
              <a:rPr lang="en-US" altLang="zh-SG" sz="1100" dirty="0"/>
              <a:t>Heatmaps (usage consumption across spaces)</a:t>
            </a:r>
            <a:endParaRPr lang="en-US" altLang="zh-SG" dirty="0"/>
          </a:p>
          <a:p>
            <a:r>
              <a:rPr lang="en-US" altLang="zh-SG" sz="1600" dirty="0"/>
              <a:t>These visualizations can be used to display:</a:t>
            </a:r>
          </a:p>
          <a:p>
            <a:r>
              <a:rPr lang="en-US" altLang="zh-SG" sz="1100" dirty="0"/>
              <a:t>Energy consumption trends</a:t>
            </a:r>
          </a:p>
          <a:p>
            <a:r>
              <a:rPr lang="en-US" altLang="zh-SG" sz="1100" dirty="0"/>
              <a:t>Water usage trends</a:t>
            </a:r>
          </a:p>
          <a:p>
            <a:r>
              <a:rPr lang="en-US" altLang="zh-SG" sz="1100" dirty="0"/>
              <a:t>Comparative consumption across locations</a:t>
            </a:r>
          </a:p>
          <a:p>
            <a:r>
              <a:rPr lang="en-US" altLang="zh-SG" sz="1100" dirty="0"/>
              <a:t>Distribution of energy usage</a:t>
            </a:r>
            <a:endParaRPr lang="en-US" altLang="zh-SG" sz="400" dirty="0"/>
          </a:p>
        </p:txBody>
      </p:sp>
      <p:sp>
        <p:nvSpPr>
          <p:cNvPr id="3" name="文本框 2">
            <a:extLst>
              <a:ext uri="{FF2B5EF4-FFF2-40B4-BE49-F238E27FC236}">
                <a16:creationId xmlns:a16="http://schemas.microsoft.com/office/drawing/2014/main" id="{9A851FCA-0293-5C0E-2AA8-1042141F9E87}"/>
              </a:ext>
            </a:extLst>
          </p:cNvPr>
          <p:cNvSpPr txBox="1"/>
          <p:nvPr/>
        </p:nvSpPr>
        <p:spPr>
          <a:xfrm>
            <a:off x="277091" y="3659396"/>
            <a:ext cx="6096000" cy="1346522"/>
          </a:xfrm>
          <a:prstGeom prst="rect">
            <a:avLst/>
          </a:prstGeom>
          <a:noFill/>
          <a:ln>
            <a:solidFill>
              <a:schemeClr val="tx1"/>
            </a:solidFill>
          </a:ln>
        </p:spPr>
        <p:txBody>
          <a:bodyPr wrap="square">
            <a:spAutoFit/>
          </a:bodyPr>
          <a:lstStyle/>
          <a:p>
            <a:r>
              <a:rPr lang="en-US" altLang="zh-SG" dirty="0"/>
              <a:t>Data Export</a:t>
            </a:r>
          </a:p>
          <a:p>
            <a:r>
              <a:rPr lang="en-US" altLang="zh-SG" sz="1600" dirty="0"/>
              <a:t>The platform must support exporting analytical data.</a:t>
            </a:r>
          </a:p>
          <a:p>
            <a:r>
              <a:rPr lang="en-US" altLang="zh-SG" sz="1600" dirty="0"/>
              <a:t>Users should be able to export data at different levels:</a:t>
            </a:r>
          </a:p>
          <a:p>
            <a:r>
              <a:rPr lang="en-US" altLang="zh-SG" sz="1050" dirty="0"/>
              <a:t>Device level</a:t>
            </a:r>
          </a:p>
          <a:p>
            <a:r>
              <a:rPr lang="en-US" altLang="zh-SG" sz="1050" dirty="0"/>
              <a:t>Room level</a:t>
            </a:r>
          </a:p>
          <a:p>
            <a:r>
              <a:rPr lang="en-US" altLang="zh-SG" sz="1050" dirty="0"/>
              <a:t>Floor level</a:t>
            </a:r>
            <a:endParaRPr lang="zh-SG" altLang="en-US" dirty="0"/>
          </a:p>
        </p:txBody>
      </p:sp>
    </p:spTree>
    <p:extLst>
      <p:ext uri="{BB962C8B-B14F-4D97-AF65-F5344CB8AC3E}">
        <p14:creationId xmlns:p14="http://schemas.microsoft.com/office/powerpoint/2010/main" val="407647660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4EDAF7-FBE9-BF5F-C75A-53598D6E57CE}"/>
            </a:ext>
          </a:extLst>
        </p:cNvPr>
        <p:cNvGrpSpPr/>
        <p:nvPr/>
      </p:nvGrpSpPr>
      <p:grpSpPr>
        <a:xfrm>
          <a:off x="0" y="0"/>
          <a:ext cx="0" cy="0"/>
          <a:chOff x="0" y="0"/>
          <a:chExt cx="0" cy="0"/>
        </a:xfrm>
      </p:grpSpPr>
      <p:sp>
        <p:nvSpPr>
          <p:cNvPr id="4" name="文本框 3">
            <a:extLst>
              <a:ext uri="{FF2B5EF4-FFF2-40B4-BE49-F238E27FC236}">
                <a16:creationId xmlns:a16="http://schemas.microsoft.com/office/drawing/2014/main" id="{8B195BC5-A687-3EC7-6E1A-70CD94E04F62}"/>
              </a:ext>
            </a:extLst>
          </p:cNvPr>
          <p:cNvSpPr txBox="1"/>
          <p:nvPr/>
        </p:nvSpPr>
        <p:spPr>
          <a:xfrm>
            <a:off x="277091" y="263297"/>
            <a:ext cx="6096000" cy="369332"/>
          </a:xfrm>
          <a:prstGeom prst="rect">
            <a:avLst/>
          </a:prstGeom>
          <a:noFill/>
        </p:spPr>
        <p:txBody>
          <a:bodyPr wrap="square">
            <a:spAutoFit/>
          </a:bodyPr>
          <a:lstStyle/>
          <a:p>
            <a:r>
              <a:rPr lang="en-US" altLang="zh-SG" dirty="0"/>
              <a:t>Part 4 —  SCADA Map View</a:t>
            </a:r>
            <a:endParaRPr lang="zh-SG" altLang="en-US" dirty="0"/>
          </a:p>
        </p:txBody>
      </p:sp>
      <p:sp>
        <p:nvSpPr>
          <p:cNvPr id="9" name="文本框 8">
            <a:extLst>
              <a:ext uri="{FF2B5EF4-FFF2-40B4-BE49-F238E27FC236}">
                <a16:creationId xmlns:a16="http://schemas.microsoft.com/office/drawing/2014/main" id="{2030AFF7-6ABD-BE74-31C6-598F5E78229B}"/>
              </a:ext>
            </a:extLst>
          </p:cNvPr>
          <p:cNvSpPr txBox="1"/>
          <p:nvPr/>
        </p:nvSpPr>
        <p:spPr>
          <a:xfrm>
            <a:off x="4433454" y="323394"/>
            <a:ext cx="7204364" cy="646331"/>
          </a:xfrm>
          <a:prstGeom prst="rect">
            <a:avLst/>
          </a:prstGeom>
          <a:solidFill>
            <a:schemeClr val="bg2"/>
          </a:solidFill>
        </p:spPr>
        <p:txBody>
          <a:bodyPr wrap="square">
            <a:spAutoFit/>
          </a:bodyPr>
          <a:lstStyle/>
          <a:p>
            <a:r>
              <a:rPr lang="en-US" altLang="zh-SG" sz="1200" dirty="0"/>
              <a:t>The SCADA Map View module provides a graphical interface for monitoring utility systems and device status in real time. This module enables operators to visualize the relationships between equipment, meters, and infrastructure using schematic diagrams, building layouts, and map-based interfaces.</a:t>
            </a:r>
            <a:endParaRPr lang="zh-SG" altLang="en-US" sz="1200" dirty="0"/>
          </a:p>
        </p:txBody>
      </p:sp>
      <p:sp>
        <p:nvSpPr>
          <p:cNvPr id="11" name="文本框 10">
            <a:extLst>
              <a:ext uri="{FF2B5EF4-FFF2-40B4-BE49-F238E27FC236}">
                <a16:creationId xmlns:a16="http://schemas.microsoft.com/office/drawing/2014/main" id="{80BD6D49-5CE4-3859-D841-C3FE1ED70C83}"/>
              </a:ext>
            </a:extLst>
          </p:cNvPr>
          <p:cNvSpPr txBox="1"/>
          <p:nvPr/>
        </p:nvSpPr>
        <p:spPr>
          <a:xfrm>
            <a:off x="277091" y="1029822"/>
            <a:ext cx="5892800" cy="2677656"/>
          </a:xfrm>
          <a:prstGeom prst="rect">
            <a:avLst/>
          </a:prstGeom>
          <a:noFill/>
          <a:ln>
            <a:solidFill>
              <a:schemeClr val="tx1"/>
            </a:solidFill>
          </a:ln>
        </p:spPr>
        <p:txBody>
          <a:bodyPr wrap="square">
            <a:spAutoFit/>
          </a:bodyPr>
          <a:lstStyle/>
          <a:p>
            <a:r>
              <a:rPr lang="en-US" altLang="zh-SG" dirty="0"/>
              <a:t>Schematic Diagram (SCADA System Diagram)</a:t>
            </a:r>
          </a:p>
          <a:p>
            <a:r>
              <a:rPr lang="en-US" altLang="zh-SG" sz="1600" dirty="0"/>
              <a:t>The system should support schematic diagrams for electrical and water systems. These diagrams illustrate the flow of utilities through infrastructure.</a:t>
            </a:r>
          </a:p>
          <a:p>
            <a:r>
              <a:rPr lang="en-US" altLang="zh-SG" sz="1600" dirty="0"/>
              <a:t>For electrical systems, the platform must support electrical single-line diagrams. Typical components displayed include: Transformers Switchboards Distribution panels Circuit breakers Energy meters </a:t>
            </a:r>
          </a:p>
          <a:p>
            <a:r>
              <a:rPr lang="en-US" altLang="zh-SG" sz="1600" dirty="0"/>
              <a:t>Water systems should refer to PUB Water Balance Chart. Flow direction should be displayed to indicate upstream and downstream connections.</a:t>
            </a:r>
            <a:endParaRPr lang="en-US" altLang="zh-SG" sz="300" dirty="0"/>
          </a:p>
        </p:txBody>
      </p:sp>
      <p:sp>
        <p:nvSpPr>
          <p:cNvPr id="5" name="文本框 4">
            <a:extLst>
              <a:ext uri="{FF2B5EF4-FFF2-40B4-BE49-F238E27FC236}">
                <a16:creationId xmlns:a16="http://schemas.microsoft.com/office/drawing/2014/main" id="{7238A6DF-C714-9D5B-5399-304098740186}"/>
              </a:ext>
            </a:extLst>
          </p:cNvPr>
          <p:cNvSpPr txBox="1"/>
          <p:nvPr/>
        </p:nvSpPr>
        <p:spPr>
          <a:xfrm>
            <a:off x="277091" y="3673784"/>
            <a:ext cx="6096000" cy="861774"/>
          </a:xfrm>
          <a:prstGeom prst="rect">
            <a:avLst/>
          </a:prstGeom>
          <a:noFill/>
          <a:ln>
            <a:solidFill>
              <a:schemeClr val="tx1"/>
            </a:solidFill>
          </a:ln>
        </p:spPr>
        <p:txBody>
          <a:bodyPr wrap="square">
            <a:spAutoFit/>
          </a:bodyPr>
          <a:lstStyle/>
          <a:p>
            <a:r>
              <a:rPr lang="en-US" altLang="zh-SG" dirty="0"/>
              <a:t>Device Visualization</a:t>
            </a:r>
          </a:p>
          <a:p>
            <a:r>
              <a:rPr lang="en-US" altLang="zh-SG" sz="1600" dirty="0"/>
              <a:t>Each device shown in the SCADA diagram should include real-time information.</a:t>
            </a:r>
            <a:endParaRPr lang="zh-SG" altLang="en-US" sz="1600" dirty="0"/>
          </a:p>
        </p:txBody>
      </p:sp>
      <p:sp>
        <p:nvSpPr>
          <p:cNvPr id="7" name="文本框 6">
            <a:extLst>
              <a:ext uri="{FF2B5EF4-FFF2-40B4-BE49-F238E27FC236}">
                <a16:creationId xmlns:a16="http://schemas.microsoft.com/office/drawing/2014/main" id="{6E53ACF0-0A41-4A95-2F3A-F27CA5109C3C}"/>
              </a:ext>
            </a:extLst>
          </p:cNvPr>
          <p:cNvSpPr txBox="1"/>
          <p:nvPr/>
        </p:nvSpPr>
        <p:spPr>
          <a:xfrm>
            <a:off x="277091" y="4710885"/>
            <a:ext cx="6096000" cy="861774"/>
          </a:xfrm>
          <a:prstGeom prst="rect">
            <a:avLst/>
          </a:prstGeom>
          <a:noFill/>
          <a:ln>
            <a:solidFill>
              <a:schemeClr val="tx1"/>
            </a:solidFill>
          </a:ln>
        </p:spPr>
        <p:txBody>
          <a:bodyPr wrap="square">
            <a:spAutoFit/>
          </a:bodyPr>
          <a:lstStyle/>
          <a:p>
            <a:r>
              <a:rPr lang="en-US" altLang="zh-SG" dirty="0"/>
              <a:t>Interactive Device Navigation</a:t>
            </a:r>
          </a:p>
          <a:p>
            <a:r>
              <a:rPr lang="en-US" altLang="zh-SG" sz="1600" dirty="0"/>
              <a:t>The SCADA interface could be interactive. Users should be able to click any device or meter icon in the diagram.</a:t>
            </a:r>
            <a:endParaRPr lang="zh-SG" altLang="en-US" sz="1600" dirty="0"/>
          </a:p>
        </p:txBody>
      </p:sp>
      <p:sp>
        <p:nvSpPr>
          <p:cNvPr id="10" name="文本框 9">
            <a:extLst>
              <a:ext uri="{FF2B5EF4-FFF2-40B4-BE49-F238E27FC236}">
                <a16:creationId xmlns:a16="http://schemas.microsoft.com/office/drawing/2014/main" id="{05D0EC6A-F048-19BF-9DC3-DDEF3F938FB3}"/>
              </a:ext>
            </a:extLst>
          </p:cNvPr>
          <p:cNvSpPr txBox="1"/>
          <p:nvPr/>
        </p:nvSpPr>
        <p:spPr>
          <a:xfrm>
            <a:off x="277091" y="5747986"/>
            <a:ext cx="6096000" cy="861774"/>
          </a:xfrm>
          <a:prstGeom prst="rect">
            <a:avLst/>
          </a:prstGeom>
          <a:noFill/>
          <a:ln>
            <a:solidFill>
              <a:schemeClr val="tx1"/>
            </a:solidFill>
          </a:ln>
        </p:spPr>
        <p:txBody>
          <a:bodyPr wrap="square">
            <a:spAutoFit/>
          </a:bodyPr>
          <a:lstStyle/>
          <a:p>
            <a:r>
              <a:rPr lang="en-US" altLang="zh-SG" dirty="0"/>
              <a:t>Alarm Visualization </a:t>
            </a:r>
          </a:p>
          <a:p>
            <a:r>
              <a:rPr lang="en-US" altLang="zh-SG" sz="1600" dirty="0"/>
              <a:t>The SCADA diagram must display alarm conditions and should use graphical indicators such as icons and colors to represent alarm status.</a:t>
            </a:r>
            <a:endParaRPr lang="zh-SG" altLang="en-US" sz="1600" dirty="0"/>
          </a:p>
        </p:txBody>
      </p:sp>
    </p:spTree>
    <p:extLst>
      <p:ext uri="{BB962C8B-B14F-4D97-AF65-F5344CB8AC3E}">
        <p14:creationId xmlns:p14="http://schemas.microsoft.com/office/powerpoint/2010/main" val="328456645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616CC6-9076-9611-861E-AFCB5C878C0B}"/>
            </a:ext>
          </a:extLst>
        </p:cNvPr>
        <p:cNvGrpSpPr/>
        <p:nvPr/>
      </p:nvGrpSpPr>
      <p:grpSpPr>
        <a:xfrm>
          <a:off x="0" y="0"/>
          <a:ext cx="0" cy="0"/>
          <a:chOff x="0" y="0"/>
          <a:chExt cx="0" cy="0"/>
        </a:xfrm>
      </p:grpSpPr>
      <p:sp>
        <p:nvSpPr>
          <p:cNvPr id="4" name="文本框 3">
            <a:extLst>
              <a:ext uri="{FF2B5EF4-FFF2-40B4-BE49-F238E27FC236}">
                <a16:creationId xmlns:a16="http://schemas.microsoft.com/office/drawing/2014/main" id="{EC394B19-F3A0-B14B-E48A-240727145534}"/>
              </a:ext>
            </a:extLst>
          </p:cNvPr>
          <p:cNvSpPr txBox="1"/>
          <p:nvPr/>
        </p:nvSpPr>
        <p:spPr>
          <a:xfrm>
            <a:off x="277091" y="263297"/>
            <a:ext cx="6096000" cy="369332"/>
          </a:xfrm>
          <a:prstGeom prst="rect">
            <a:avLst/>
          </a:prstGeom>
          <a:noFill/>
        </p:spPr>
        <p:txBody>
          <a:bodyPr wrap="square">
            <a:spAutoFit/>
          </a:bodyPr>
          <a:lstStyle/>
          <a:p>
            <a:r>
              <a:rPr lang="en-US" altLang="zh-SG" dirty="0"/>
              <a:t>Part 4 —  SCADA Map View</a:t>
            </a:r>
            <a:endParaRPr lang="zh-SG" altLang="en-US" dirty="0"/>
          </a:p>
        </p:txBody>
      </p:sp>
      <p:sp>
        <p:nvSpPr>
          <p:cNvPr id="9" name="文本框 8">
            <a:extLst>
              <a:ext uri="{FF2B5EF4-FFF2-40B4-BE49-F238E27FC236}">
                <a16:creationId xmlns:a16="http://schemas.microsoft.com/office/drawing/2014/main" id="{EBEF0C68-BAE6-3810-CBD4-53C1E76A4101}"/>
              </a:ext>
            </a:extLst>
          </p:cNvPr>
          <p:cNvSpPr txBox="1"/>
          <p:nvPr/>
        </p:nvSpPr>
        <p:spPr>
          <a:xfrm>
            <a:off x="4433454" y="323394"/>
            <a:ext cx="7204364" cy="646331"/>
          </a:xfrm>
          <a:prstGeom prst="rect">
            <a:avLst/>
          </a:prstGeom>
          <a:solidFill>
            <a:schemeClr val="bg2"/>
          </a:solidFill>
        </p:spPr>
        <p:txBody>
          <a:bodyPr wrap="square">
            <a:spAutoFit/>
          </a:bodyPr>
          <a:lstStyle/>
          <a:p>
            <a:r>
              <a:rPr lang="en-US" altLang="zh-SG" sz="1200" dirty="0"/>
              <a:t>The SCADA Map View module provides a graphical interface for monitoring utility systems and device status in real time. This module enables operators to visualize the relationships between equipment, meters, and infrastructure using schematic diagrams, building layouts, and map-based interfaces.</a:t>
            </a:r>
            <a:endParaRPr lang="zh-SG" altLang="en-US" sz="1200" dirty="0"/>
          </a:p>
        </p:txBody>
      </p:sp>
      <p:sp>
        <p:nvSpPr>
          <p:cNvPr id="11" name="文本框 10">
            <a:extLst>
              <a:ext uri="{FF2B5EF4-FFF2-40B4-BE49-F238E27FC236}">
                <a16:creationId xmlns:a16="http://schemas.microsoft.com/office/drawing/2014/main" id="{937921BE-E66F-2E0A-B584-73C1E0EFEA5F}"/>
              </a:ext>
            </a:extLst>
          </p:cNvPr>
          <p:cNvSpPr txBox="1"/>
          <p:nvPr/>
        </p:nvSpPr>
        <p:spPr>
          <a:xfrm>
            <a:off x="277091" y="1029822"/>
            <a:ext cx="5892800" cy="861774"/>
          </a:xfrm>
          <a:prstGeom prst="rect">
            <a:avLst/>
          </a:prstGeom>
          <a:noFill/>
          <a:ln>
            <a:solidFill>
              <a:schemeClr val="tx1"/>
            </a:solidFill>
          </a:ln>
        </p:spPr>
        <p:txBody>
          <a:bodyPr wrap="square">
            <a:spAutoFit/>
          </a:bodyPr>
          <a:lstStyle/>
          <a:p>
            <a:r>
              <a:rPr lang="en-US" altLang="zh-SG" dirty="0"/>
              <a:t>Device Health Indicators</a:t>
            </a:r>
          </a:p>
          <a:p>
            <a:r>
              <a:rPr lang="en-US" altLang="zh-SG" sz="1600" dirty="0"/>
              <a:t>The SCADA view must also reflect device health conditions, based on the Data Transmission Health Check module.</a:t>
            </a:r>
            <a:endParaRPr lang="en-US" altLang="zh-SG" sz="200" dirty="0"/>
          </a:p>
        </p:txBody>
      </p:sp>
      <p:sp>
        <p:nvSpPr>
          <p:cNvPr id="5" name="文本框 4">
            <a:extLst>
              <a:ext uri="{FF2B5EF4-FFF2-40B4-BE49-F238E27FC236}">
                <a16:creationId xmlns:a16="http://schemas.microsoft.com/office/drawing/2014/main" id="{2B20BE29-7E9F-BF72-ABB0-DAF951806A33}"/>
              </a:ext>
            </a:extLst>
          </p:cNvPr>
          <p:cNvSpPr txBox="1"/>
          <p:nvPr/>
        </p:nvSpPr>
        <p:spPr>
          <a:xfrm>
            <a:off x="277091" y="2066923"/>
            <a:ext cx="6096000" cy="2031325"/>
          </a:xfrm>
          <a:prstGeom prst="rect">
            <a:avLst/>
          </a:prstGeom>
          <a:noFill/>
          <a:ln>
            <a:solidFill>
              <a:schemeClr val="tx1"/>
            </a:solidFill>
          </a:ln>
        </p:spPr>
        <p:txBody>
          <a:bodyPr wrap="square">
            <a:spAutoFit/>
          </a:bodyPr>
          <a:lstStyle/>
          <a:p>
            <a:r>
              <a:rPr lang="en-US" altLang="zh-SG" dirty="0"/>
              <a:t>SCADA Diagram Editor</a:t>
            </a:r>
          </a:p>
          <a:p>
            <a:r>
              <a:rPr lang="en-US" altLang="zh-SG" sz="1600" dirty="0"/>
              <a:t>The platform should support an editable SCADA diagram interface.</a:t>
            </a:r>
          </a:p>
          <a:p>
            <a:r>
              <a:rPr lang="en-US" altLang="zh-SG" sz="1600" dirty="0"/>
              <a:t>Operators should be able to design or modify system diagrams using a graphical editor.</a:t>
            </a:r>
          </a:p>
          <a:p>
            <a:r>
              <a:rPr lang="en-US" altLang="zh-SG" sz="1600" dirty="0"/>
              <a:t>The editor should allow users to:</a:t>
            </a:r>
          </a:p>
          <a:p>
            <a:pPr marL="171450" indent="-171450">
              <a:buFont typeface="Arial" panose="020B0604020202020204" pitchFamily="34" charset="0"/>
              <a:buChar char="•"/>
            </a:pPr>
            <a:r>
              <a:rPr lang="en-US" altLang="zh-SG" sz="1100" dirty="0"/>
              <a:t>Add equipment symbols</a:t>
            </a:r>
          </a:p>
          <a:p>
            <a:pPr marL="171450" indent="-171450">
              <a:buFont typeface="Arial" panose="020B0604020202020204" pitchFamily="34" charset="0"/>
              <a:buChar char="•"/>
            </a:pPr>
            <a:r>
              <a:rPr lang="en-US" altLang="zh-SG" sz="1100" dirty="0"/>
              <a:t>Connect system components</a:t>
            </a:r>
          </a:p>
          <a:p>
            <a:pPr marL="171450" indent="-171450">
              <a:buFont typeface="Arial" panose="020B0604020202020204" pitchFamily="34" charset="0"/>
              <a:buChar char="•"/>
            </a:pPr>
            <a:r>
              <a:rPr lang="en-US" altLang="zh-SG" sz="1100" dirty="0"/>
              <a:t>Bind devices to diagram objects</a:t>
            </a:r>
          </a:p>
          <a:p>
            <a:pPr marL="171450" indent="-171450">
              <a:buFont typeface="Arial" panose="020B0604020202020204" pitchFamily="34" charset="0"/>
              <a:buChar char="•"/>
            </a:pPr>
            <a:r>
              <a:rPr lang="en-US" altLang="zh-SG" sz="1100" dirty="0"/>
              <a:t>Configure data points.</a:t>
            </a:r>
            <a:endParaRPr lang="zh-SG" altLang="en-US" sz="1100" dirty="0"/>
          </a:p>
        </p:txBody>
      </p:sp>
      <p:sp>
        <p:nvSpPr>
          <p:cNvPr id="10" name="文本框 9">
            <a:extLst>
              <a:ext uri="{FF2B5EF4-FFF2-40B4-BE49-F238E27FC236}">
                <a16:creationId xmlns:a16="http://schemas.microsoft.com/office/drawing/2014/main" id="{D12103F7-3024-94CD-899F-ABB6572947E1}"/>
              </a:ext>
            </a:extLst>
          </p:cNvPr>
          <p:cNvSpPr txBox="1"/>
          <p:nvPr/>
        </p:nvSpPr>
        <p:spPr>
          <a:xfrm>
            <a:off x="277091" y="5323480"/>
            <a:ext cx="6096000" cy="615553"/>
          </a:xfrm>
          <a:prstGeom prst="rect">
            <a:avLst/>
          </a:prstGeom>
          <a:noFill/>
          <a:ln>
            <a:solidFill>
              <a:schemeClr val="tx1"/>
            </a:solidFill>
          </a:ln>
        </p:spPr>
        <p:txBody>
          <a:bodyPr wrap="square">
            <a:spAutoFit/>
          </a:bodyPr>
          <a:lstStyle/>
          <a:p>
            <a:r>
              <a:rPr lang="en-US" altLang="zh-SG" dirty="0"/>
              <a:t>Real-Time Monitoring</a:t>
            </a:r>
          </a:p>
          <a:p>
            <a:r>
              <a:rPr lang="en-US" altLang="zh-SG" sz="1600" dirty="0"/>
              <a:t>The SCADA view must support real-time monitoring of device data.</a:t>
            </a:r>
            <a:endParaRPr lang="zh-SG" altLang="en-US" sz="1400" dirty="0"/>
          </a:p>
        </p:txBody>
      </p:sp>
      <p:sp>
        <p:nvSpPr>
          <p:cNvPr id="3" name="文本框 2">
            <a:extLst>
              <a:ext uri="{FF2B5EF4-FFF2-40B4-BE49-F238E27FC236}">
                <a16:creationId xmlns:a16="http://schemas.microsoft.com/office/drawing/2014/main" id="{CFA494C2-5847-BB5E-D61B-C3591745ACB6}"/>
              </a:ext>
            </a:extLst>
          </p:cNvPr>
          <p:cNvSpPr txBox="1"/>
          <p:nvPr/>
        </p:nvSpPr>
        <p:spPr>
          <a:xfrm>
            <a:off x="277091" y="4156866"/>
            <a:ext cx="6096000" cy="1107996"/>
          </a:xfrm>
          <a:prstGeom prst="rect">
            <a:avLst/>
          </a:prstGeom>
          <a:noFill/>
          <a:ln>
            <a:solidFill>
              <a:schemeClr val="tx1"/>
            </a:solidFill>
          </a:ln>
        </p:spPr>
        <p:txBody>
          <a:bodyPr wrap="square">
            <a:spAutoFit/>
          </a:bodyPr>
          <a:lstStyle/>
          <a:p>
            <a:r>
              <a:rPr lang="en-US" altLang="zh-SG" dirty="0"/>
              <a:t>System Navigation Integration</a:t>
            </a:r>
          </a:p>
          <a:p>
            <a:r>
              <a:rPr lang="en-US" altLang="zh-SG" sz="1600" dirty="0"/>
              <a:t>The SCADA module must integrate with the platform's hierarchical navigation system. Users should be able to access SCADA views through the location hierarchy.</a:t>
            </a:r>
            <a:endParaRPr lang="zh-SG" altLang="en-US" sz="1600" dirty="0"/>
          </a:p>
        </p:txBody>
      </p:sp>
    </p:spTree>
    <p:extLst>
      <p:ext uri="{BB962C8B-B14F-4D97-AF65-F5344CB8AC3E}">
        <p14:creationId xmlns:p14="http://schemas.microsoft.com/office/powerpoint/2010/main" val="309155496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50C79E-6DD4-825C-1E94-1173631FAAE6}"/>
            </a:ext>
          </a:extLst>
        </p:cNvPr>
        <p:cNvGrpSpPr/>
        <p:nvPr/>
      </p:nvGrpSpPr>
      <p:grpSpPr>
        <a:xfrm>
          <a:off x="0" y="0"/>
          <a:ext cx="0" cy="0"/>
          <a:chOff x="0" y="0"/>
          <a:chExt cx="0" cy="0"/>
        </a:xfrm>
      </p:grpSpPr>
      <p:sp>
        <p:nvSpPr>
          <p:cNvPr id="4" name="文本框 3">
            <a:extLst>
              <a:ext uri="{FF2B5EF4-FFF2-40B4-BE49-F238E27FC236}">
                <a16:creationId xmlns:a16="http://schemas.microsoft.com/office/drawing/2014/main" id="{5B7ECEFF-432A-3656-FEA7-4DC82E3C2A95}"/>
              </a:ext>
            </a:extLst>
          </p:cNvPr>
          <p:cNvSpPr txBox="1"/>
          <p:nvPr/>
        </p:nvSpPr>
        <p:spPr>
          <a:xfrm>
            <a:off x="277091" y="263297"/>
            <a:ext cx="6096000" cy="369332"/>
          </a:xfrm>
          <a:prstGeom prst="rect">
            <a:avLst/>
          </a:prstGeom>
          <a:noFill/>
        </p:spPr>
        <p:txBody>
          <a:bodyPr wrap="square">
            <a:spAutoFit/>
          </a:bodyPr>
          <a:lstStyle/>
          <a:p>
            <a:r>
              <a:rPr lang="en-US" altLang="zh-SG" dirty="0"/>
              <a:t>Part 5 —  Alert Setting &amp; Alarm Management</a:t>
            </a:r>
            <a:endParaRPr lang="zh-SG" altLang="en-US" dirty="0"/>
          </a:p>
        </p:txBody>
      </p:sp>
      <p:sp>
        <p:nvSpPr>
          <p:cNvPr id="9" name="文本框 8">
            <a:extLst>
              <a:ext uri="{FF2B5EF4-FFF2-40B4-BE49-F238E27FC236}">
                <a16:creationId xmlns:a16="http://schemas.microsoft.com/office/drawing/2014/main" id="{5E5CCD13-11F7-C573-6CCE-549B4B836BE6}"/>
              </a:ext>
            </a:extLst>
          </p:cNvPr>
          <p:cNvSpPr txBox="1"/>
          <p:nvPr/>
        </p:nvSpPr>
        <p:spPr>
          <a:xfrm>
            <a:off x="5292436" y="323394"/>
            <a:ext cx="6345382" cy="461665"/>
          </a:xfrm>
          <a:prstGeom prst="rect">
            <a:avLst/>
          </a:prstGeom>
          <a:solidFill>
            <a:schemeClr val="bg2"/>
          </a:solidFill>
        </p:spPr>
        <p:txBody>
          <a:bodyPr wrap="square">
            <a:spAutoFit/>
          </a:bodyPr>
          <a:lstStyle/>
          <a:p>
            <a:r>
              <a:rPr lang="en-US" altLang="zh-SG" sz="1200" dirty="0"/>
              <a:t>The Alert Setting &amp; Alarm Management module is responsible for monitoring device status, detecting abnormal system conditions, and notifying operators when issues occur.</a:t>
            </a:r>
            <a:endParaRPr lang="zh-SG" altLang="en-US" sz="1200" dirty="0"/>
          </a:p>
        </p:txBody>
      </p:sp>
      <p:sp>
        <p:nvSpPr>
          <p:cNvPr id="11" name="文本框 10">
            <a:extLst>
              <a:ext uri="{FF2B5EF4-FFF2-40B4-BE49-F238E27FC236}">
                <a16:creationId xmlns:a16="http://schemas.microsoft.com/office/drawing/2014/main" id="{E5F04C68-0B3D-CFB0-D3FC-A16C2C8B2D16}"/>
              </a:ext>
            </a:extLst>
          </p:cNvPr>
          <p:cNvSpPr txBox="1"/>
          <p:nvPr/>
        </p:nvSpPr>
        <p:spPr>
          <a:xfrm>
            <a:off x="277091" y="1029822"/>
            <a:ext cx="5892800" cy="1877437"/>
          </a:xfrm>
          <a:prstGeom prst="rect">
            <a:avLst/>
          </a:prstGeom>
          <a:noFill/>
          <a:ln>
            <a:solidFill>
              <a:schemeClr val="tx1"/>
            </a:solidFill>
          </a:ln>
        </p:spPr>
        <p:txBody>
          <a:bodyPr wrap="square">
            <a:spAutoFit/>
          </a:bodyPr>
          <a:lstStyle/>
          <a:p>
            <a:r>
              <a:rPr lang="en-US" altLang="zh-SG" dirty="0"/>
              <a:t>Threshold Alerts</a:t>
            </a:r>
          </a:p>
          <a:p>
            <a:r>
              <a:rPr lang="en-US" altLang="zh-SG" sz="1600" dirty="0"/>
              <a:t>The system must allow threshold values to be configured for each monitoring point.</a:t>
            </a:r>
          </a:p>
          <a:p>
            <a:r>
              <a:rPr lang="en-US" altLang="zh-SG" sz="1600" dirty="0"/>
              <a:t>Threshold alerts are triggered when measured values exceed predefined limits.</a:t>
            </a:r>
          </a:p>
          <a:p>
            <a:r>
              <a:rPr lang="en-US" altLang="zh-SG" sz="1600" dirty="0"/>
              <a:t>Each monitoring point may have multiple threshold levels.</a:t>
            </a:r>
          </a:p>
          <a:p>
            <a:r>
              <a:rPr lang="en-US" altLang="zh-SG" sz="1600" dirty="0"/>
              <a:t>Threshold alerts must also support configurable active periods.</a:t>
            </a:r>
          </a:p>
          <a:p>
            <a:endParaRPr lang="en-US" altLang="zh-SG" sz="200" dirty="0"/>
          </a:p>
        </p:txBody>
      </p:sp>
      <p:sp>
        <p:nvSpPr>
          <p:cNvPr id="6" name="文本框 5">
            <a:extLst>
              <a:ext uri="{FF2B5EF4-FFF2-40B4-BE49-F238E27FC236}">
                <a16:creationId xmlns:a16="http://schemas.microsoft.com/office/drawing/2014/main" id="{ABC9B7F6-A47C-6F24-157E-FA9BB3DBA204}"/>
              </a:ext>
            </a:extLst>
          </p:cNvPr>
          <p:cNvSpPr txBox="1"/>
          <p:nvPr/>
        </p:nvSpPr>
        <p:spPr>
          <a:xfrm>
            <a:off x="277091" y="2945940"/>
            <a:ext cx="6096000" cy="1354217"/>
          </a:xfrm>
          <a:prstGeom prst="rect">
            <a:avLst/>
          </a:prstGeom>
          <a:noFill/>
          <a:ln>
            <a:solidFill>
              <a:schemeClr val="tx1"/>
            </a:solidFill>
          </a:ln>
        </p:spPr>
        <p:txBody>
          <a:bodyPr wrap="square">
            <a:spAutoFit/>
          </a:bodyPr>
          <a:lstStyle/>
          <a:p>
            <a:r>
              <a:rPr lang="en-US" altLang="zh-SG" dirty="0"/>
              <a:t>Data Anomaly Alerts</a:t>
            </a:r>
          </a:p>
          <a:p>
            <a:r>
              <a:rPr lang="en-US" altLang="zh-SG" sz="1600" dirty="0"/>
              <a:t>The system could detect abnormal data patterns.</a:t>
            </a:r>
          </a:p>
          <a:p>
            <a:r>
              <a:rPr lang="en-US" altLang="zh-SG" sz="1600" dirty="0"/>
              <a:t>These alerts are triggered when data behavior deviates significantly from expected values. These alerts may be triggered automatically by the Data Analysis or AI analytics modules.</a:t>
            </a:r>
            <a:endParaRPr lang="zh-SG" altLang="en-US" sz="1600" dirty="0"/>
          </a:p>
        </p:txBody>
      </p:sp>
      <p:sp>
        <p:nvSpPr>
          <p:cNvPr id="8" name="文本框 7">
            <a:extLst>
              <a:ext uri="{FF2B5EF4-FFF2-40B4-BE49-F238E27FC236}">
                <a16:creationId xmlns:a16="http://schemas.microsoft.com/office/drawing/2014/main" id="{EE521993-A0C6-F800-21CF-78AA87F0AC59}"/>
              </a:ext>
            </a:extLst>
          </p:cNvPr>
          <p:cNvSpPr txBox="1"/>
          <p:nvPr/>
        </p:nvSpPr>
        <p:spPr>
          <a:xfrm>
            <a:off x="277091" y="4452587"/>
            <a:ext cx="6096000" cy="615553"/>
          </a:xfrm>
          <a:prstGeom prst="rect">
            <a:avLst/>
          </a:prstGeom>
          <a:noFill/>
          <a:ln>
            <a:solidFill>
              <a:schemeClr val="tx1"/>
            </a:solidFill>
          </a:ln>
        </p:spPr>
        <p:txBody>
          <a:bodyPr wrap="square">
            <a:spAutoFit/>
          </a:bodyPr>
          <a:lstStyle/>
          <a:p>
            <a:r>
              <a:rPr lang="en-US" altLang="zh-SG" dirty="0"/>
              <a:t>Alert Hierarchy </a:t>
            </a:r>
          </a:p>
          <a:p>
            <a:r>
              <a:rPr lang="en-US" altLang="zh-SG" sz="1600" dirty="0"/>
              <a:t>Alerts can be supported at different levels of the location hierarchy.</a:t>
            </a:r>
            <a:endParaRPr lang="zh-SG" altLang="en-US" sz="1600" dirty="0"/>
          </a:p>
        </p:txBody>
      </p:sp>
      <p:sp>
        <p:nvSpPr>
          <p:cNvPr id="13" name="文本框 12">
            <a:extLst>
              <a:ext uri="{FF2B5EF4-FFF2-40B4-BE49-F238E27FC236}">
                <a16:creationId xmlns:a16="http://schemas.microsoft.com/office/drawing/2014/main" id="{52E49261-7F29-6B34-7310-FA5C76FA86A0}"/>
              </a:ext>
            </a:extLst>
          </p:cNvPr>
          <p:cNvSpPr txBox="1"/>
          <p:nvPr/>
        </p:nvSpPr>
        <p:spPr>
          <a:xfrm>
            <a:off x="277091" y="5220570"/>
            <a:ext cx="6096000" cy="1107996"/>
          </a:xfrm>
          <a:prstGeom prst="rect">
            <a:avLst/>
          </a:prstGeom>
          <a:noFill/>
          <a:ln>
            <a:solidFill>
              <a:schemeClr val="tx1"/>
            </a:solidFill>
          </a:ln>
        </p:spPr>
        <p:txBody>
          <a:bodyPr wrap="square">
            <a:spAutoFit/>
          </a:bodyPr>
          <a:lstStyle/>
          <a:p>
            <a:r>
              <a:rPr lang="en-US" altLang="zh-SG" dirty="0"/>
              <a:t>Alert Notifications</a:t>
            </a:r>
          </a:p>
          <a:p>
            <a:r>
              <a:rPr lang="en-US" altLang="zh-SG" sz="1600" dirty="0"/>
              <a:t>When an alert is triggered, the system must notify relevant users.</a:t>
            </a:r>
          </a:p>
          <a:p>
            <a:r>
              <a:rPr lang="en-US" altLang="zh-SG" sz="1600" dirty="0"/>
              <a:t>Supported notification channels may include:</a:t>
            </a:r>
          </a:p>
          <a:p>
            <a:r>
              <a:rPr lang="en-US" altLang="zh-SG" sz="1600" dirty="0"/>
              <a:t>Email, </a:t>
            </a:r>
            <a:r>
              <a:rPr lang="en-US" altLang="zh-SG" sz="1600" b="1" dirty="0"/>
              <a:t>SMS</a:t>
            </a:r>
            <a:r>
              <a:rPr lang="en-US" altLang="zh-SG" sz="1600" dirty="0"/>
              <a:t>, Web dashboard notification</a:t>
            </a:r>
            <a:endParaRPr lang="zh-SG" altLang="en-US" sz="1600" dirty="0"/>
          </a:p>
        </p:txBody>
      </p:sp>
      <p:sp>
        <p:nvSpPr>
          <p:cNvPr id="15" name="文本框 14">
            <a:extLst>
              <a:ext uri="{FF2B5EF4-FFF2-40B4-BE49-F238E27FC236}">
                <a16:creationId xmlns:a16="http://schemas.microsoft.com/office/drawing/2014/main" id="{CCDC9FD0-C217-EA5B-A213-A177FCB29528}"/>
              </a:ext>
            </a:extLst>
          </p:cNvPr>
          <p:cNvSpPr txBox="1"/>
          <p:nvPr/>
        </p:nvSpPr>
        <p:spPr>
          <a:xfrm>
            <a:off x="6373091" y="3429000"/>
            <a:ext cx="4276436" cy="769441"/>
          </a:xfrm>
          <a:prstGeom prst="rect">
            <a:avLst/>
          </a:prstGeom>
          <a:noFill/>
        </p:spPr>
        <p:txBody>
          <a:bodyPr wrap="square">
            <a:spAutoFit/>
          </a:bodyPr>
          <a:lstStyle/>
          <a:p>
            <a:r>
              <a:rPr lang="en-US" altLang="zh-SG" sz="1100" dirty="0"/>
              <a:t>The platform should analyze historical data and identify deviations from normal behavior. Example thresholds include:1% deviation 5% deviation When abnormal consumption is detected, the system should trigger alert.</a:t>
            </a:r>
            <a:endParaRPr lang="zh-SG" altLang="en-US" sz="1100" dirty="0"/>
          </a:p>
        </p:txBody>
      </p:sp>
      <p:sp>
        <p:nvSpPr>
          <p:cNvPr id="2" name="文本框 1">
            <a:extLst>
              <a:ext uri="{FF2B5EF4-FFF2-40B4-BE49-F238E27FC236}">
                <a16:creationId xmlns:a16="http://schemas.microsoft.com/office/drawing/2014/main" id="{45B30543-8D91-99E0-32CD-E15EFFB2E9A0}"/>
              </a:ext>
            </a:extLst>
          </p:cNvPr>
          <p:cNvSpPr txBox="1"/>
          <p:nvPr/>
        </p:nvSpPr>
        <p:spPr>
          <a:xfrm>
            <a:off x="633364" y="6282209"/>
            <a:ext cx="1134880" cy="261610"/>
          </a:xfrm>
          <a:prstGeom prst="rect">
            <a:avLst/>
          </a:prstGeom>
          <a:noFill/>
        </p:spPr>
        <p:txBody>
          <a:bodyPr wrap="square">
            <a:spAutoFit/>
          </a:bodyPr>
          <a:lstStyle/>
          <a:p>
            <a:r>
              <a:rPr lang="zh-CN" altLang="en-US" sz="1100" dirty="0"/>
              <a:t>短信平台费用？</a:t>
            </a:r>
            <a:endParaRPr lang="zh-SG" altLang="en-US" sz="1100" dirty="0"/>
          </a:p>
        </p:txBody>
      </p:sp>
    </p:spTree>
    <p:extLst>
      <p:ext uri="{BB962C8B-B14F-4D97-AF65-F5344CB8AC3E}">
        <p14:creationId xmlns:p14="http://schemas.microsoft.com/office/powerpoint/2010/main" val="107739809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1BC1ED-AA91-7D4F-563D-4F7DE303F38B}"/>
            </a:ext>
          </a:extLst>
        </p:cNvPr>
        <p:cNvGrpSpPr/>
        <p:nvPr/>
      </p:nvGrpSpPr>
      <p:grpSpPr>
        <a:xfrm>
          <a:off x="0" y="0"/>
          <a:ext cx="0" cy="0"/>
          <a:chOff x="0" y="0"/>
          <a:chExt cx="0" cy="0"/>
        </a:xfrm>
      </p:grpSpPr>
      <p:sp>
        <p:nvSpPr>
          <p:cNvPr id="4" name="文本框 3">
            <a:extLst>
              <a:ext uri="{FF2B5EF4-FFF2-40B4-BE49-F238E27FC236}">
                <a16:creationId xmlns:a16="http://schemas.microsoft.com/office/drawing/2014/main" id="{CB91FB1C-D957-76C9-755E-255A55AE794C}"/>
              </a:ext>
            </a:extLst>
          </p:cNvPr>
          <p:cNvSpPr txBox="1"/>
          <p:nvPr/>
        </p:nvSpPr>
        <p:spPr>
          <a:xfrm>
            <a:off x="277091" y="263297"/>
            <a:ext cx="6096000" cy="369332"/>
          </a:xfrm>
          <a:prstGeom prst="rect">
            <a:avLst/>
          </a:prstGeom>
          <a:noFill/>
        </p:spPr>
        <p:txBody>
          <a:bodyPr wrap="square">
            <a:spAutoFit/>
          </a:bodyPr>
          <a:lstStyle/>
          <a:p>
            <a:r>
              <a:rPr lang="en-US" altLang="zh-SG" dirty="0"/>
              <a:t>Part 6 —  Billing &amp; Utility Cost Management</a:t>
            </a:r>
            <a:endParaRPr lang="zh-SG" altLang="en-US" dirty="0"/>
          </a:p>
        </p:txBody>
      </p:sp>
      <p:sp>
        <p:nvSpPr>
          <p:cNvPr id="9" name="文本框 8">
            <a:extLst>
              <a:ext uri="{FF2B5EF4-FFF2-40B4-BE49-F238E27FC236}">
                <a16:creationId xmlns:a16="http://schemas.microsoft.com/office/drawing/2014/main" id="{97E8736E-F3B5-E4A1-7139-BAE8AF14B566}"/>
              </a:ext>
            </a:extLst>
          </p:cNvPr>
          <p:cNvSpPr txBox="1"/>
          <p:nvPr/>
        </p:nvSpPr>
        <p:spPr>
          <a:xfrm>
            <a:off x="5292436" y="323394"/>
            <a:ext cx="6345382" cy="646331"/>
          </a:xfrm>
          <a:prstGeom prst="rect">
            <a:avLst/>
          </a:prstGeom>
          <a:solidFill>
            <a:schemeClr val="bg2"/>
          </a:solidFill>
        </p:spPr>
        <p:txBody>
          <a:bodyPr wrap="square">
            <a:spAutoFit/>
          </a:bodyPr>
          <a:lstStyle/>
          <a:p>
            <a:r>
              <a:rPr lang="en-US" altLang="zh-SG" sz="1200" dirty="0"/>
              <a:t>The Billing module is responsible for calculating utility charges based on consumption data collected from meters and allocating costs to tenants, rooms, or beds depending on the billing model.</a:t>
            </a:r>
            <a:endParaRPr lang="zh-SG" altLang="en-US" sz="1200" dirty="0"/>
          </a:p>
        </p:txBody>
      </p:sp>
      <p:sp>
        <p:nvSpPr>
          <p:cNvPr id="11" name="文本框 10">
            <a:extLst>
              <a:ext uri="{FF2B5EF4-FFF2-40B4-BE49-F238E27FC236}">
                <a16:creationId xmlns:a16="http://schemas.microsoft.com/office/drawing/2014/main" id="{53DC5911-4113-962A-C817-F9DE2DA4A03E}"/>
              </a:ext>
            </a:extLst>
          </p:cNvPr>
          <p:cNvSpPr txBox="1"/>
          <p:nvPr/>
        </p:nvSpPr>
        <p:spPr>
          <a:xfrm>
            <a:off x="277091" y="1054044"/>
            <a:ext cx="5892800" cy="1785104"/>
          </a:xfrm>
          <a:prstGeom prst="rect">
            <a:avLst/>
          </a:prstGeom>
          <a:noFill/>
          <a:ln>
            <a:solidFill>
              <a:schemeClr val="tx1"/>
            </a:solidFill>
          </a:ln>
        </p:spPr>
        <p:txBody>
          <a:bodyPr wrap="square">
            <a:spAutoFit/>
          </a:bodyPr>
          <a:lstStyle/>
          <a:p>
            <a:r>
              <a:rPr lang="en-US" altLang="zh-SG" dirty="0"/>
              <a:t>Billing Models</a:t>
            </a:r>
          </a:p>
          <a:p>
            <a:r>
              <a:rPr lang="en-US" altLang="zh-SG" sz="1600" dirty="0"/>
              <a:t>Full Room Billing</a:t>
            </a:r>
          </a:p>
          <a:p>
            <a:r>
              <a:rPr lang="en-US" altLang="zh-CN" sz="1600" dirty="0"/>
              <a:t>Bed Billing</a:t>
            </a:r>
          </a:p>
          <a:p>
            <a:r>
              <a:rPr lang="en-US" altLang="zh-CN" sz="1600" dirty="0"/>
              <a:t>CAG: Bed Billing (Pure CE, Pure Non-CE, Mixed CE and Non-CE)</a:t>
            </a:r>
          </a:p>
          <a:p>
            <a:pPr lvl="1"/>
            <a:r>
              <a:rPr lang="en-US" altLang="zh-CN" sz="1100" dirty="0"/>
              <a:t>CE Contract - </a:t>
            </a:r>
            <a:r>
              <a:rPr lang="en-US" altLang="zh-CN" sz="1100" dirty="0">
                <a:highlight>
                  <a:srgbClr val="FFFF00"/>
                </a:highlight>
              </a:rPr>
              <a:t>Monitor 3 months to come up with base consumption and bill excess consumption. </a:t>
            </a:r>
            <a:r>
              <a:rPr lang="en-US" altLang="zh-CN" sz="1100" dirty="0"/>
              <a:t>Bill $40 per bill (fixed rate) over the base consumption for excessive consumption for that month.</a:t>
            </a:r>
          </a:p>
          <a:p>
            <a:pPr lvl="1"/>
            <a:r>
              <a:rPr lang="en-US" altLang="zh-CN" sz="1100" dirty="0"/>
              <a:t>Non-CE Contract - Consumption-Based Billing</a:t>
            </a:r>
          </a:p>
        </p:txBody>
      </p:sp>
      <p:sp>
        <p:nvSpPr>
          <p:cNvPr id="3" name="文本框 2">
            <a:extLst>
              <a:ext uri="{FF2B5EF4-FFF2-40B4-BE49-F238E27FC236}">
                <a16:creationId xmlns:a16="http://schemas.microsoft.com/office/drawing/2014/main" id="{857B1575-D119-2FBE-E369-4B91F37CF82F}"/>
              </a:ext>
            </a:extLst>
          </p:cNvPr>
          <p:cNvSpPr txBox="1"/>
          <p:nvPr/>
        </p:nvSpPr>
        <p:spPr>
          <a:xfrm>
            <a:off x="277091" y="2899245"/>
            <a:ext cx="6096000" cy="1354217"/>
          </a:xfrm>
          <a:prstGeom prst="rect">
            <a:avLst/>
          </a:prstGeom>
          <a:noFill/>
          <a:ln>
            <a:solidFill>
              <a:schemeClr val="tx1"/>
            </a:solidFill>
          </a:ln>
        </p:spPr>
        <p:txBody>
          <a:bodyPr wrap="square">
            <a:spAutoFit/>
          </a:bodyPr>
          <a:lstStyle/>
          <a:p>
            <a:r>
              <a:rPr lang="en-US" altLang="zh-SG" dirty="0"/>
              <a:t>Utility Rate History</a:t>
            </a:r>
          </a:p>
          <a:p>
            <a:r>
              <a:rPr lang="en-US" altLang="zh-SG" sz="1600" dirty="0"/>
              <a:t>The system should support configuring preset utility rates based on different time periods. All rate changes should be recorded with historical versions to ensure that billing calculations can always match the correct historical rate.</a:t>
            </a:r>
            <a:endParaRPr lang="zh-SG" altLang="en-US" sz="1600" dirty="0"/>
          </a:p>
        </p:txBody>
      </p:sp>
    </p:spTree>
    <p:extLst>
      <p:ext uri="{BB962C8B-B14F-4D97-AF65-F5344CB8AC3E}">
        <p14:creationId xmlns:p14="http://schemas.microsoft.com/office/powerpoint/2010/main" val="199230455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5EC5F217-F59D-5B57-1255-D467807413E6}"/>
              </a:ext>
            </a:extLst>
          </p:cNvPr>
          <p:cNvSpPr txBox="1"/>
          <p:nvPr/>
        </p:nvSpPr>
        <p:spPr>
          <a:xfrm>
            <a:off x="277091" y="263297"/>
            <a:ext cx="6096000" cy="369332"/>
          </a:xfrm>
          <a:prstGeom prst="rect">
            <a:avLst/>
          </a:prstGeom>
          <a:noFill/>
        </p:spPr>
        <p:txBody>
          <a:bodyPr wrap="square">
            <a:spAutoFit/>
          </a:bodyPr>
          <a:lstStyle/>
          <a:p>
            <a:r>
              <a:rPr lang="en-US" altLang="zh-SG" dirty="0"/>
              <a:t>Part 7 —  Report</a:t>
            </a:r>
            <a:endParaRPr lang="zh-SG" altLang="en-US" dirty="0"/>
          </a:p>
        </p:txBody>
      </p:sp>
      <p:sp>
        <p:nvSpPr>
          <p:cNvPr id="6" name="文本框 5">
            <a:extLst>
              <a:ext uri="{FF2B5EF4-FFF2-40B4-BE49-F238E27FC236}">
                <a16:creationId xmlns:a16="http://schemas.microsoft.com/office/drawing/2014/main" id="{729AE739-A9E6-88BE-2D90-89CC30326819}"/>
              </a:ext>
            </a:extLst>
          </p:cNvPr>
          <p:cNvSpPr txBox="1"/>
          <p:nvPr/>
        </p:nvSpPr>
        <p:spPr>
          <a:xfrm>
            <a:off x="277091" y="992970"/>
            <a:ext cx="6096000" cy="369332"/>
          </a:xfrm>
          <a:prstGeom prst="rect">
            <a:avLst/>
          </a:prstGeom>
          <a:noFill/>
        </p:spPr>
        <p:txBody>
          <a:bodyPr wrap="square">
            <a:spAutoFit/>
          </a:bodyPr>
          <a:lstStyle/>
          <a:p>
            <a:r>
              <a:rPr lang="en-US" altLang="zh-SG" dirty="0"/>
              <a:t>System Availability Report</a:t>
            </a:r>
            <a:endParaRPr lang="zh-SG" altLang="en-US" dirty="0"/>
          </a:p>
        </p:txBody>
      </p:sp>
      <p:sp>
        <p:nvSpPr>
          <p:cNvPr id="8" name="文本框 7">
            <a:extLst>
              <a:ext uri="{FF2B5EF4-FFF2-40B4-BE49-F238E27FC236}">
                <a16:creationId xmlns:a16="http://schemas.microsoft.com/office/drawing/2014/main" id="{9779D7BE-0714-C830-5901-86BA6E51A6A4}"/>
              </a:ext>
            </a:extLst>
          </p:cNvPr>
          <p:cNvSpPr txBox="1"/>
          <p:nvPr/>
        </p:nvSpPr>
        <p:spPr>
          <a:xfrm>
            <a:off x="277091" y="1722643"/>
            <a:ext cx="6096000" cy="369332"/>
          </a:xfrm>
          <a:prstGeom prst="rect">
            <a:avLst/>
          </a:prstGeom>
          <a:noFill/>
        </p:spPr>
        <p:txBody>
          <a:bodyPr wrap="square">
            <a:spAutoFit/>
          </a:bodyPr>
          <a:lstStyle/>
          <a:p>
            <a:r>
              <a:rPr lang="en-US" altLang="zh-SG" dirty="0"/>
              <a:t>Data Unavailability Report</a:t>
            </a:r>
            <a:endParaRPr lang="zh-SG" altLang="en-US" dirty="0"/>
          </a:p>
        </p:txBody>
      </p:sp>
      <p:sp>
        <p:nvSpPr>
          <p:cNvPr id="9" name="文本框 8">
            <a:extLst>
              <a:ext uri="{FF2B5EF4-FFF2-40B4-BE49-F238E27FC236}">
                <a16:creationId xmlns:a16="http://schemas.microsoft.com/office/drawing/2014/main" id="{08E4FC68-5F9A-82FD-2D28-5387E77C4A65}"/>
              </a:ext>
            </a:extLst>
          </p:cNvPr>
          <p:cNvSpPr txBox="1"/>
          <p:nvPr/>
        </p:nvSpPr>
        <p:spPr>
          <a:xfrm>
            <a:off x="277091" y="2493879"/>
            <a:ext cx="6096000" cy="646331"/>
          </a:xfrm>
          <a:prstGeom prst="rect">
            <a:avLst/>
          </a:prstGeom>
          <a:noFill/>
        </p:spPr>
        <p:txBody>
          <a:bodyPr wrap="square">
            <a:spAutoFit/>
          </a:bodyPr>
          <a:lstStyle/>
          <a:p>
            <a:r>
              <a:rPr lang="en-US" altLang="zh-SG" dirty="0"/>
              <a:t>Part 8 —  Login MFA</a:t>
            </a:r>
          </a:p>
          <a:p>
            <a:r>
              <a:rPr lang="en-US" altLang="zh-CN" dirty="0"/>
              <a:t>Email OTP</a:t>
            </a:r>
            <a:endParaRPr lang="zh-SG" altLang="en-US" dirty="0"/>
          </a:p>
        </p:txBody>
      </p:sp>
    </p:spTree>
    <p:extLst>
      <p:ext uri="{BB962C8B-B14F-4D97-AF65-F5344CB8AC3E}">
        <p14:creationId xmlns:p14="http://schemas.microsoft.com/office/powerpoint/2010/main" val="385388101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29925983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030567596"/>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4930</TotalTime>
  <Words>1744</Words>
  <Application>Microsoft Office PowerPoint</Application>
  <PresentationFormat>宽屏</PresentationFormat>
  <Paragraphs>176</Paragraphs>
  <Slides>13</Slides>
  <Notes>0</Notes>
  <HiddenSlides>0</HiddenSlides>
  <MMClips>0</MMClips>
  <ScaleCrop>false</ScaleCrop>
  <HeadingPairs>
    <vt:vector size="6" baseType="variant">
      <vt:variant>
        <vt:lpstr>已用的字体</vt:lpstr>
      </vt:variant>
      <vt:variant>
        <vt:i4>3</vt:i4>
      </vt:variant>
      <vt:variant>
        <vt:lpstr>主题</vt:lpstr>
      </vt:variant>
      <vt:variant>
        <vt:i4>1</vt:i4>
      </vt:variant>
      <vt:variant>
        <vt:lpstr>幻灯片标题</vt:lpstr>
      </vt:variant>
      <vt:variant>
        <vt:i4>13</vt:i4>
      </vt:variant>
    </vt:vector>
  </HeadingPairs>
  <TitlesOfParts>
    <vt:vector size="17" baseType="lpstr">
      <vt:lpstr>Arial</vt:lpstr>
      <vt:lpstr>Calibri</vt:lpstr>
      <vt:lpstr>Calibri Light</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 C</dc:creator>
  <cp:lastModifiedBy>H C</cp:lastModifiedBy>
  <cp:revision>3</cp:revision>
  <dcterms:created xsi:type="dcterms:W3CDTF">2026-03-07T08:47:55Z</dcterms:created>
  <dcterms:modified xsi:type="dcterms:W3CDTF">2026-03-12T07:32:24Z</dcterms:modified>
</cp:coreProperties>
</file>